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4475479A-3713-45C2-8806-4C68BE27DB5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F02FF56-A5CC-4DB0-A0A8-EE5D68F964A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1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E0674D19-A08D-438B-87D6-0658DD70F6AF}"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1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AFF36E15-3E6D-41D3-8CEC-7369211C78FB}"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697A075D-CE28-41A7-99ED-559F10CBCBD0}"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915FFA4-3B61-4C99-803C-BBE7011BB03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1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1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1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4FC4906-4DFC-4544-9ECB-BB399909945A}"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2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2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6F2B4A8-E458-44F9-BAC5-97CD2710B68F}"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2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2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B570B2A-7F22-4168-B548-7A02C8543AB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2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9384D3AD-7334-4F51-9B3F-0FA3F2289F1D}"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3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7C5B9FFB-B461-49E7-BFD6-16CAC7F23534}"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3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3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4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4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4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5E61A816-749A-420E-95DC-1AD507719A15}"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59C2795-723E-47A7-A745-FE1F51C91E14}"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5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53F71122-1F7F-42A0-B293-5CF738319ADC}"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5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C66F542-6296-46C7-92F9-19C8AA2E9D22}"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5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5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D3E90D5-4DB9-4252-A253-F9671E8742A1}"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73AB41F9-48E0-4DE5-A2D2-7EA601082D3F}"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AAA1F45D-7B2A-4236-9718-A83ADF56CC9A}"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5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17FF246-6F3D-499A-A40F-DFD633433777}"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6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71F7E69-E9C1-475E-BF6E-E4C2BE8DBB64}"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6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5229550-A95B-4C8A-82DD-C98F0EC04E94}"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7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7C7AF122-70B4-4B39-8601-FA25FD38038B}"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7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5148A945-7A32-4C14-AF68-393DEF65B64D}"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latin typeface="Arial"/>
            </a:endParaRPr>
          </a:p>
        </p:txBody>
      </p:sp>
      <p:sp>
        <p:nvSpPr>
          <p:cNvPr id="7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8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8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8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8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8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5192BEDF-8B00-41A6-ACD2-FAC139211B41}"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0" name="Google Shape;6;p15" descr="C0-HD-TOP.png"/>
          <p:cNvPicPr/>
          <p:nvPr/>
        </p:nvPicPr>
        <p:blipFill>
          <a:blip r:embed="rId2"/>
          <a:stretch/>
        </p:blipFill>
        <p:spPr>
          <a:xfrm>
            <a:off x="0" y="0"/>
            <a:ext cx="12191040" cy="1440360"/>
          </a:xfrm>
          <a:prstGeom prst="rect">
            <a:avLst/>
          </a:prstGeom>
          <a:ln w="0">
            <a:noFill/>
          </a:ln>
        </p:spPr>
      </p:pic>
      <p:pic>
        <p:nvPicPr>
          <p:cNvPr id="1" name="Google Shape;13;p16" descr="C0-HD-BTM.png"/>
          <p:cNvPicPr/>
          <p:nvPr/>
        </p:nvPicPr>
        <p:blipFill>
          <a:blip r:embed="rId3"/>
          <a:stretch/>
        </p:blipFill>
        <p:spPr>
          <a:xfrm>
            <a:off x="0" y="4375080"/>
            <a:ext cx="12191040" cy="2481840"/>
          </a:xfrm>
          <a:prstGeom prst="rect">
            <a:avLst/>
          </a:prstGeom>
          <a:ln w="0">
            <a:noFill/>
          </a:ln>
        </p:spPr>
      </p:pic>
      <p:sp>
        <p:nvSpPr>
          <p:cNvPr id="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latin typeface="Arial"/>
              </a:rPr>
              <a:t>Click to edit the title text format</a:t>
            </a:r>
            <a:endParaRPr b="0" lang="en-US" sz="1800" spc="-1" strike="noStrike">
              <a:latin typeface="Arial"/>
            </a:endParaRPr>
          </a:p>
        </p:txBody>
      </p:sp>
      <p:sp>
        <p:nvSpPr>
          <p:cNvPr id="3"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ffffff"/>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ffffff"/>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ffffff"/>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ffffff"/>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ffffff"/>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ffffff"/>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4" name="PlaceHolder 3"/>
          <p:cNvSpPr>
            <a:spLocks noGrp="1"/>
          </p:cNvSpPr>
          <p:nvPr>
            <p:ph type="ftr" idx="1"/>
          </p:nvPr>
        </p:nvSpPr>
        <p:spPr>
          <a:xfrm>
            <a:off x="1371600" y="4323960"/>
            <a:ext cx="6399720" cy="3639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latin typeface="Times New Roman"/>
              </a:defRPr>
            </a:lvl1pPr>
          </a:lstStyle>
          <a:p>
            <a:pPr indent="0" algn="ctr">
              <a:lnSpc>
                <a:spcPct val="100000"/>
              </a:lnSpc>
              <a:buNone/>
              <a:tabLst>
                <a:tab algn="l" pos="0"/>
              </a:tabLst>
            </a:pPr>
            <a:r>
              <a:rPr b="0" lang="en-US" sz="1400" spc="-1" strike="noStrike">
                <a:latin typeface="Times New Roman"/>
              </a:rPr>
              <a:t>&lt;footer&gt;</a:t>
            </a:r>
            <a:endParaRPr b="0" lang="en-US" sz="1400" spc="-1" strike="noStrike">
              <a:latin typeface="Times New Roman"/>
            </a:endParaRPr>
          </a:p>
        </p:txBody>
      </p:sp>
      <p:sp>
        <p:nvSpPr>
          <p:cNvPr id="5" name="PlaceHolder 4"/>
          <p:cNvSpPr>
            <a:spLocks noGrp="1"/>
          </p:cNvSpPr>
          <p:nvPr>
            <p:ph type="sldNum" idx="2"/>
          </p:nvPr>
        </p:nvSpPr>
        <p:spPr>
          <a:xfrm>
            <a:off x="8077320" y="1431000"/>
            <a:ext cx="2742120" cy="3639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3301290B-7BC2-4AC7-AF9A-DD6F159C0F08}" type="slidenum">
              <a:rPr b="0" lang="en-US" sz="1050" spc="-1" strike="noStrike">
                <a:solidFill>
                  <a:schemeClr val="lt1"/>
                </a:solidFill>
                <a:latin typeface="Century Gothic"/>
                <a:ea typeface="Century Gothic"/>
              </a:rPr>
              <a:t>&lt;number&gt;</a:t>
            </a:fld>
            <a:endParaRPr b="0" lang="en-US" sz="1050" spc="-1" strike="noStrike">
              <a:latin typeface="Times New Roman"/>
            </a:endParaRPr>
          </a:p>
        </p:txBody>
      </p:sp>
      <p:sp>
        <p:nvSpPr>
          <p:cNvPr id="6" name="PlaceHolder 5"/>
          <p:cNvSpPr>
            <a:spLocks noGrp="1"/>
          </p:cNvSpPr>
          <p:nvPr>
            <p:ph type="dt" idx="3"/>
          </p:nvPr>
        </p:nvSpPr>
        <p:spPr>
          <a:xfrm>
            <a:off x="7909560" y="4314240"/>
            <a:ext cx="2909880" cy="373680"/>
          </a:xfrm>
          <a:prstGeom prst="rect">
            <a:avLst/>
          </a:prstGeom>
          <a:noFill/>
          <a:ln w="0">
            <a:noFill/>
          </a:ln>
        </p:spPr>
        <p:txBody>
          <a:bodyPr lIns="90000" rIns="90000" tIns="45000" bIns="45000" anchor="ctr">
            <a:noAutofit/>
          </a:bodyPr>
          <a:lstStyle>
            <a:lvl1pPr indent="0">
              <a:buNone/>
              <a:defRPr b="0" lang="en-US" sz="1400" spc="-1" strike="noStrike">
                <a:latin typeface="Times New Roman"/>
              </a:defRPr>
            </a:lvl1pPr>
          </a:lstStyle>
          <a:p>
            <a:pPr indent="0">
              <a:buNone/>
            </a:pPr>
            <a:r>
              <a:rPr b="0" lang="en-US" sz="1400" spc="-1" strike="noStrike">
                <a:latin typeface="Times New Roman"/>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3" name="Google Shape;6;p15" descr="C0-HD-TOP.png"/>
          <p:cNvPicPr/>
          <p:nvPr/>
        </p:nvPicPr>
        <p:blipFill>
          <a:blip r:embed="rId2"/>
          <a:stretch/>
        </p:blipFill>
        <p:spPr>
          <a:xfrm>
            <a:off x="0" y="0"/>
            <a:ext cx="12191040" cy="1440360"/>
          </a:xfrm>
          <a:prstGeom prst="rect">
            <a:avLst/>
          </a:prstGeom>
          <a:ln w="0">
            <a:noFill/>
          </a:ln>
        </p:spPr>
      </p:pic>
      <p:sp>
        <p:nvSpPr>
          <p:cNvPr id="44" name="PlaceHolder 1"/>
          <p:cNvSpPr>
            <a:spLocks noGrp="1"/>
          </p:cNvSpPr>
          <p:nvPr>
            <p:ph type="ftr" idx="4"/>
          </p:nvPr>
        </p:nvSpPr>
        <p:spPr>
          <a:xfrm>
            <a:off x="685800" y="6355800"/>
            <a:ext cx="7771320" cy="3639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latin typeface="Times New Roman"/>
              </a:defRPr>
            </a:lvl1pPr>
          </a:lstStyle>
          <a:p>
            <a:pPr indent="0" algn="ctr">
              <a:lnSpc>
                <a:spcPct val="100000"/>
              </a:lnSpc>
              <a:buNone/>
              <a:tabLst>
                <a:tab algn="l" pos="0"/>
              </a:tabLst>
            </a:pPr>
            <a:r>
              <a:rPr b="0" lang="en-US" sz="1400" spc="-1" strike="noStrike">
                <a:latin typeface="Times New Roman"/>
              </a:rPr>
              <a:t>&lt;footer&gt;</a:t>
            </a:r>
            <a:endParaRPr b="0" lang="en-US" sz="1400" spc="-1" strike="noStrike">
              <a:latin typeface="Times New Roman"/>
            </a:endParaRPr>
          </a:p>
        </p:txBody>
      </p:sp>
      <p:sp>
        <p:nvSpPr>
          <p:cNvPr id="45" name="PlaceHolder 2"/>
          <p:cNvSpPr>
            <a:spLocks noGrp="1"/>
          </p:cNvSpPr>
          <p:nvPr>
            <p:ph type="sldNum" idx="5"/>
          </p:nvPr>
        </p:nvSpPr>
        <p:spPr>
          <a:xfrm>
            <a:off x="8763120" y="380880"/>
            <a:ext cx="2742120" cy="3639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F2F10E19-BA8F-410F-BB37-82487939DF29}" type="slidenum">
              <a:rPr b="0" lang="en-US" sz="1050" spc="-1" strike="noStrike">
                <a:solidFill>
                  <a:schemeClr val="lt1"/>
                </a:solidFill>
                <a:latin typeface="Century Gothic"/>
                <a:ea typeface="Century Gothic"/>
              </a:rPr>
              <a:t>&lt;number&gt;</a:t>
            </a:fld>
            <a:endParaRPr b="0" lang="en-US" sz="1050" spc="-1" strike="noStrike">
              <a:latin typeface="Times New Roman"/>
            </a:endParaRPr>
          </a:p>
        </p:txBody>
      </p:sp>
      <p:sp>
        <p:nvSpPr>
          <p:cNvPr id="46" name="PlaceHolder 3"/>
          <p:cNvSpPr>
            <a:spLocks noGrp="1"/>
          </p:cNvSpPr>
          <p:nvPr>
            <p:ph type="dt" idx="6"/>
          </p:nvPr>
        </p:nvSpPr>
        <p:spPr>
          <a:xfrm>
            <a:off x="8595360" y="6356520"/>
            <a:ext cx="2909880" cy="363960"/>
          </a:xfrm>
          <a:prstGeom prst="rect">
            <a:avLst/>
          </a:prstGeom>
          <a:noFill/>
          <a:ln w="0">
            <a:noFill/>
          </a:ln>
        </p:spPr>
        <p:txBody>
          <a:bodyPr lIns="90000" rIns="90000" tIns="45000" bIns="45000" anchor="ctr">
            <a:noAutofit/>
          </a:bodyPr>
          <a:lstStyle>
            <a:lvl1pPr indent="0">
              <a:buNone/>
              <a:defRPr b="0" lang="en-US" sz="1400" spc="-1" strike="noStrike">
                <a:latin typeface="Times New Roman"/>
              </a:defRPr>
            </a:lvl1pPr>
          </a:lstStyle>
          <a:p>
            <a:pPr indent="0">
              <a:buNone/>
            </a:pPr>
            <a:r>
              <a:rPr b="0" lang="en-US" sz="1400" spc="-1" strike="noStrike">
                <a:latin typeface="Times New Roman"/>
              </a:rPr>
              <a:t>&lt;date/time&gt;</a:t>
            </a:r>
            <a:endParaRPr b="0" lang="en-US" sz="1400" spc="-1" strike="noStrike">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latin typeface="Arial"/>
              </a:rPr>
              <a:t>Click to edit the title text format</a:t>
            </a:r>
            <a:endParaRPr b="0" lang="en-US" sz="4400" spc="-1" strike="noStrike">
              <a:latin typeface="Arial"/>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5.png"/><Relationship Id="rId3"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163c2c"/>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49880" y="1325880"/>
            <a:ext cx="5714640" cy="822600"/>
          </a:xfrm>
          <a:prstGeom prst="rect">
            <a:avLst/>
          </a:prstGeom>
          <a:noFill/>
          <a:ln w="0">
            <a:noFill/>
          </a:ln>
        </p:spPr>
        <p:txBody>
          <a:bodyPr lIns="0" rIns="0" tIns="0" bIns="0" anchor="b">
            <a:normAutofit/>
          </a:bodyPr>
          <a:p>
            <a:pPr indent="0">
              <a:lnSpc>
                <a:spcPct val="90000"/>
              </a:lnSpc>
              <a:buNone/>
              <a:tabLst>
                <a:tab algn="l" pos="0"/>
              </a:tabLst>
            </a:pPr>
            <a:r>
              <a:rPr b="1" lang="en-US" sz="3800" spc="-1" strike="noStrike">
                <a:solidFill>
                  <a:srgbClr val="ffffff"/>
                </a:solidFill>
                <a:latin typeface="Aptos Display"/>
                <a:ea typeface="Century Gothic"/>
              </a:rPr>
              <a:t>Green Pace</a:t>
            </a:r>
            <a:endParaRPr b="0" lang="en-US" sz="3800" spc="-1" strike="noStrike">
              <a:latin typeface="Arial"/>
            </a:endParaRPr>
          </a:p>
        </p:txBody>
      </p:sp>
      <p:sp>
        <p:nvSpPr>
          <p:cNvPr id="86" name="PlaceHolder 2"/>
          <p:cNvSpPr>
            <a:spLocks noGrp="1"/>
          </p:cNvSpPr>
          <p:nvPr>
            <p:ph type="subTitle"/>
          </p:nvPr>
        </p:nvSpPr>
        <p:spPr>
          <a:xfrm>
            <a:off x="786240" y="2267640"/>
            <a:ext cx="5211720" cy="1188360"/>
          </a:xfrm>
          <a:prstGeom prst="rect">
            <a:avLst/>
          </a:prstGeom>
          <a:noFill/>
          <a:ln w="0">
            <a:noFill/>
          </a:ln>
        </p:spPr>
        <p:txBody>
          <a:bodyPr lIns="0" rIns="0" tIns="0" bIns="0" anchor="t">
            <a:normAutofit/>
          </a:bodyPr>
          <a:p>
            <a:pPr marL="457200" indent="0">
              <a:lnSpc>
                <a:spcPct val="90000"/>
              </a:lnSpc>
              <a:spcBef>
                <a:spcPts val="1001"/>
              </a:spcBef>
              <a:buNone/>
              <a:tabLst>
                <a:tab algn="l" pos="0"/>
              </a:tabLst>
            </a:pPr>
            <a:r>
              <a:rPr b="0" lang="en-US" sz="1800" spc="-1" strike="noStrike">
                <a:solidFill>
                  <a:srgbClr val="e0ece4"/>
                </a:solidFill>
                <a:latin typeface="Aptos"/>
                <a:ea typeface="Century Gothic"/>
              </a:rPr>
              <a:t>Security Policy Presentation</a:t>
            </a:r>
            <a:endParaRPr b="0" lang="en-US" sz="1800" spc="-1" strike="noStrike">
              <a:latin typeface="Arial"/>
            </a:endParaRPr>
          </a:p>
          <a:p>
            <a:pPr marL="457200" indent="0">
              <a:lnSpc>
                <a:spcPct val="90000"/>
              </a:lnSpc>
              <a:spcBef>
                <a:spcPts val="1001"/>
              </a:spcBef>
              <a:buNone/>
              <a:tabLst>
                <a:tab algn="l" pos="0"/>
              </a:tabLst>
            </a:pPr>
            <a:r>
              <a:rPr b="0" lang="en-US" sz="1800" spc="-1" strike="noStrike">
                <a:solidFill>
                  <a:srgbClr val="e0ece4"/>
                </a:solidFill>
                <a:latin typeface="Aptos"/>
                <a:ea typeface="Century Gothic"/>
              </a:rPr>
              <a:t>Developer: Jordan Charlot</a:t>
            </a:r>
            <a:endParaRPr b="0" lang="en-US" sz="1800" spc="-1" strike="noStrike">
              <a:latin typeface="Arial"/>
            </a:endParaRPr>
          </a:p>
          <a:p>
            <a:pPr marL="457200" indent="0">
              <a:lnSpc>
                <a:spcPct val="90000"/>
              </a:lnSpc>
              <a:spcBef>
                <a:spcPts val="1001"/>
              </a:spcBef>
              <a:buNone/>
              <a:tabLst>
                <a:tab algn="l" pos="0"/>
              </a:tabLst>
            </a:pPr>
            <a:r>
              <a:rPr b="0" lang="en-US" sz="1800" spc="-1" strike="noStrike">
                <a:solidFill>
                  <a:srgbClr val="e0ece4"/>
                </a:solidFill>
                <a:latin typeface="Aptos"/>
                <a:ea typeface="Century Gothic"/>
              </a:rPr>
              <a:t>Project Two</a:t>
            </a:r>
            <a:endParaRPr b="0" lang="en-US" sz="1800" spc="-1" strike="noStrike">
              <a:latin typeface="Arial"/>
            </a:endParaRPr>
          </a:p>
        </p:txBody>
      </p:sp>
      <p:pic>
        <p:nvPicPr>
          <p:cNvPr id="87" name="Picture 86" descr="green_pace_logo_transparent.png"/>
          <p:cNvPicPr/>
          <p:nvPr/>
        </p:nvPicPr>
        <p:blipFill>
          <a:blip r:embed="rId1"/>
          <a:stretch/>
        </p:blipFill>
        <p:spPr>
          <a:xfrm>
            <a:off x="7543800" y="1033200"/>
            <a:ext cx="3245760" cy="4205880"/>
          </a:xfrm>
          <a:prstGeom prst="rect">
            <a:avLst/>
          </a:prstGeom>
          <a:ln w="0">
            <a:noFill/>
          </a:ln>
        </p:spPr>
      </p:pic>
      <p:sp>
        <p:nvSpPr>
          <p:cNvPr id="88" name="Rectangle 87"/>
          <p:cNvSpPr/>
          <p:nvPr/>
        </p:nvSpPr>
        <p:spPr>
          <a:xfrm>
            <a:off x="768240" y="960120"/>
            <a:ext cx="658080" cy="54360"/>
          </a:xfrm>
          <a:prstGeom prst="rect">
            <a:avLst/>
          </a:prstGeom>
          <a:solidFill>
            <a:srgbClr val="67ba7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9" name="Oval 88"/>
          <p:cNvSpPr/>
          <p:nvPr/>
        </p:nvSpPr>
        <p:spPr>
          <a:xfrm>
            <a:off x="6720840" y="914400"/>
            <a:ext cx="91080" cy="91080"/>
          </a:xfrm>
          <a:prstGeom prst="ellipse">
            <a:avLst/>
          </a:prstGeom>
          <a:solidFill>
            <a:srgbClr val="54996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0" name="Oval 89"/>
          <p:cNvSpPr/>
          <p:nvPr/>
        </p:nvSpPr>
        <p:spPr>
          <a:xfrm>
            <a:off x="7040880" y="658440"/>
            <a:ext cx="91080" cy="91080"/>
          </a:xfrm>
          <a:prstGeom prst="ellipse">
            <a:avLst/>
          </a:prstGeom>
          <a:solidFill>
            <a:srgbClr val="54996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1" name="Oval 90"/>
          <p:cNvSpPr/>
          <p:nvPr/>
        </p:nvSpPr>
        <p:spPr>
          <a:xfrm>
            <a:off x="11018520" y="1097280"/>
            <a:ext cx="91080" cy="91080"/>
          </a:xfrm>
          <a:prstGeom prst="ellipse">
            <a:avLst/>
          </a:prstGeom>
          <a:solidFill>
            <a:srgbClr val="54996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2" name="Oval 91"/>
          <p:cNvSpPr/>
          <p:nvPr/>
        </p:nvSpPr>
        <p:spPr>
          <a:xfrm>
            <a:off x="10835640" y="5257800"/>
            <a:ext cx="91080" cy="91080"/>
          </a:xfrm>
          <a:prstGeom prst="ellipse">
            <a:avLst/>
          </a:prstGeom>
          <a:solidFill>
            <a:srgbClr val="54996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3" name="Oval 92"/>
          <p:cNvSpPr/>
          <p:nvPr/>
        </p:nvSpPr>
        <p:spPr>
          <a:xfrm>
            <a:off x="6903720" y="5074920"/>
            <a:ext cx="91080" cy="91080"/>
          </a:xfrm>
          <a:prstGeom prst="ellipse">
            <a:avLst/>
          </a:prstGeom>
          <a:solidFill>
            <a:srgbClr val="54996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4" name="TextBox 93"/>
          <p:cNvSpPr/>
          <p:nvPr/>
        </p:nvSpPr>
        <p:spPr>
          <a:xfrm>
            <a:off x="2766600" y="6126480"/>
            <a:ext cx="179964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1000" spc="-1" strike="noStrike">
                <a:solidFill>
                  <a:srgbClr val="9fc8aa"/>
                </a:solidFill>
                <a:latin typeface="Aptos"/>
              </a:rPr>
              <a:t>CS 405  •  PROJECT TWO</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OVERVIEW: DEFENSE IN DEPTH</a:t>
            </a:r>
            <a:endParaRPr b="0" lang="en-US" sz="2700" spc="-1" strike="noStrike">
              <a:latin typeface="Arial"/>
            </a:endParaRPr>
          </a:p>
        </p:txBody>
      </p:sp>
      <p:pic>
        <p:nvPicPr>
          <p:cNvPr id="96"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nvPr/>
        </p:nvPicPr>
        <p:blipFill>
          <a:blip r:embed="rId1"/>
          <a:stretch/>
        </p:blipFill>
        <p:spPr>
          <a:xfrm>
            <a:off x="5623560" y="1572840"/>
            <a:ext cx="5668920" cy="3337200"/>
          </a:xfrm>
          <a:prstGeom prst="rect">
            <a:avLst/>
          </a:prstGeom>
          <a:ln w="12700">
            <a:solidFill>
              <a:srgbClr val="c8d8cd"/>
            </a:solidFill>
            <a:round/>
          </a:ln>
        </p:spPr>
      </p:pic>
      <p:sp>
        <p:nvSpPr>
          <p:cNvPr id="97" name="TextBox 154"/>
          <p:cNvSpPr/>
          <p:nvPr/>
        </p:nvSpPr>
        <p:spPr>
          <a:xfrm>
            <a:off x="685800" y="1920240"/>
            <a:ext cx="4570920" cy="33300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600" spc="-1" strike="noStrike">
                <a:solidFill>
                  <a:srgbClr val="377c49"/>
                </a:solidFill>
                <a:latin typeface="Aptos"/>
                <a:ea typeface="Arial"/>
              </a:rPr>
              <a:t>Why the policy is needed</a:t>
            </a:r>
            <a:endParaRPr b="0" lang="en-US" sz="1600" spc="-1" strike="noStrike">
              <a:latin typeface="Arial"/>
            </a:endParaRPr>
          </a:p>
        </p:txBody>
      </p:sp>
      <p:sp>
        <p:nvSpPr>
          <p:cNvPr id="98" name="TextBox 155"/>
          <p:cNvSpPr/>
          <p:nvPr/>
        </p:nvSpPr>
        <p:spPr>
          <a:xfrm>
            <a:off x="685800" y="2395800"/>
            <a:ext cx="4708080" cy="2998080"/>
          </a:xfrm>
          <a:prstGeom prst="rect">
            <a:avLst/>
          </a:prstGeom>
          <a:noFill/>
          <a:ln w="0">
            <a:noFill/>
          </a:ln>
        </p:spPr>
        <p:style>
          <a:lnRef idx="0"/>
          <a:fillRef idx="0"/>
          <a:effectRef idx="0"/>
          <a:fontRef idx="minor"/>
        </p:style>
        <p:txBody>
          <a:bodyPr lIns="36720" rIns="36720" tIns="27360" bIns="27360" anchor="t">
            <a:spAutoFit/>
          </a:bodyPr>
          <a:p>
            <a:pPr marL="219600" indent="-128160">
              <a:lnSpc>
                <a:spcPct val="100000"/>
              </a:lnSpc>
              <a:spcAft>
                <a:spcPts val="700"/>
              </a:spcAft>
              <a:buClr>
                <a:srgbClr val="000000"/>
              </a:buClr>
              <a:buFont typeface="Arial"/>
              <a:buChar char="•"/>
            </a:pPr>
            <a:r>
              <a:rPr b="0" lang="en-US" sz="1600" spc="-1" strike="noStrike">
                <a:solidFill>
                  <a:srgbClr val="252f2a"/>
                </a:solidFill>
                <a:latin typeface="Aptos"/>
                <a:ea typeface="Arial"/>
              </a:rPr>
              <a:t>Green Pace was already using security practices, but they were not all written in one place.</a:t>
            </a:r>
            <a:endParaRPr b="0" lang="en-US" sz="1600" spc="-1" strike="noStrike">
              <a:latin typeface="Arial"/>
            </a:endParaRPr>
          </a:p>
          <a:p>
            <a:pPr marL="219600" indent="-128160">
              <a:lnSpc>
                <a:spcPct val="100000"/>
              </a:lnSpc>
              <a:spcAft>
                <a:spcPts val="700"/>
              </a:spcAft>
              <a:buClr>
                <a:srgbClr val="000000"/>
              </a:buClr>
              <a:buFont typeface="Arial"/>
              <a:buChar char="•"/>
            </a:pPr>
            <a:r>
              <a:rPr b="0" lang="en-US" sz="1600" spc="-1" strike="noStrike">
                <a:solidFill>
                  <a:srgbClr val="252f2a"/>
                </a:solidFill>
                <a:latin typeface="Aptos"/>
                <a:ea typeface="Arial"/>
              </a:rPr>
              <a:t>This policy puts the rules together so the whole team can follow the same ones.</a:t>
            </a:r>
            <a:endParaRPr b="0" lang="en-US" sz="1600" spc="-1" strike="noStrike">
              <a:latin typeface="Arial"/>
            </a:endParaRPr>
          </a:p>
          <a:p>
            <a:pPr marL="219600" indent="-128160">
              <a:lnSpc>
                <a:spcPct val="100000"/>
              </a:lnSpc>
              <a:spcAft>
                <a:spcPts val="700"/>
              </a:spcAft>
              <a:buClr>
                <a:srgbClr val="000000"/>
              </a:buClr>
              <a:buFont typeface="Arial"/>
              <a:buChar char="•"/>
            </a:pPr>
            <a:r>
              <a:rPr b="0" lang="en-US" sz="1600" spc="-1" strike="noStrike">
                <a:solidFill>
                  <a:srgbClr val="252f2a"/>
                </a:solidFill>
                <a:latin typeface="Aptos"/>
                <a:ea typeface="Arial"/>
              </a:rPr>
              <a:t>Defense in depth means one security check is not enough. If one misses a problem, another may catch it.</a:t>
            </a:r>
            <a:endParaRPr b="0" lang="en-US" sz="1600" spc="-1" strike="noStrike">
              <a:latin typeface="Arial"/>
            </a:endParaRPr>
          </a:p>
          <a:p>
            <a:pPr marL="219600" indent="-128160">
              <a:lnSpc>
                <a:spcPct val="100000"/>
              </a:lnSpc>
              <a:spcAft>
                <a:spcPts val="700"/>
              </a:spcAft>
              <a:buClr>
                <a:srgbClr val="000000"/>
              </a:buClr>
              <a:buFont typeface="Arial"/>
              <a:buChar char="•"/>
            </a:pPr>
            <a:r>
              <a:rPr b="0" lang="en-US" sz="1600" spc="-1" strike="noStrike">
                <a:solidFill>
                  <a:srgbClr val="252f2a"/>
                </a:solidFill>
                <a:latin typeface="Aptos"/>
                <a:ea typeface="Arial"/>
              </a:rPr>
              <a:t>Main areas to protect: user input, memory, SQL, network traffic, accounts, and saved data.</a:t>
            </a:r>
            <a:endParaRPr b="0" lang="en-US" sz="1600" spc="-1" strike="noStrike">
              <a:latin typeface="Arial"/>
            </a:endParaRPr>
          </a:p>
        </p:txBody>
      </p:sp>
      <p:sp>
        <p:nvSpPr>
          <p:cNvPr id="99" name="TextBox 156"/>
          <p:cNvSpPr/>
          <p:nvPr/>
        </p:nvSpPr>
        <p:spPr>
          <a:xfrm>
            <a:off x="749880" y="5687640"/>
            <a:ext cx="9783000" cy="3027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400" spc="-1" strike="noStrike">
                <a:solidFill>
                  <a:srgbClr val="377c49"/>
                </a:solidFill>
                <a:latin typeface="Aptos"/>
                <a:ea typeface="Arial"/>
              </a:rPr>
              <a:t>Goal: find problems early and make attacks harder.</a:t>
            </a:r>
            <a:endParaRPr b="0" lang="en-US" sz="1400" spc="-1" strike="noStrike">
              <a:latin typeface="Arial"/>
            </a:endParaRPr>
          </a:p>
        </p:txBody>
      </p:sp>
      <p:sp>
        <p:nvSpPr>
          <p:cNvPr id="100" name="Rectangle 94"/>
          <p:cNvSpPr/>
          <p:nvPr/>
        </p:nvSpPr>
        <p:spPr>
          <a:xfrm>
            <a:off x="576000" y="1517760"/>
            <a:ext cx="54360" cy="4205880"/>
          </a:xfrm>
          <a:prstGeom prst="rect">
            <a:avLst/>
          </a:prstGeom>
          <a:solidFill>
            <a:srgbClr val="377c4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 name="Rectangle 95"/>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2" name="Rectangle 96"/>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3" name="Rectangle 97"/>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4" name="TextBox 98"/>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05" name="TextBox 99"/>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2</a:t>
            </a:r>
            <a:endParaRPr b="0" lang="en-US" sz="900" spc="-1" strike="noStrike">
              <a:latin typeface="Arial"/>
            </a:endParaRPr>
          </a:p>
        </p:txBody>
      </p:sp>
      <p:pic>
        <p:nvPicPr>
          <p:cNvPr id="106" name="Picture 100" descr="green_pace_icon_transparent.png"/>
          <p:cNvPicPr/>
          <p:nvPr/>
        </p:nvPicPr>
        <p:blipFill>
          <a:blip r:embed="rId2"/>
          <a:stretch/>
        </p:blipFill>
        <p:spPr>
          <a:xfrm>
            <a:off x="11548800" y="6144840"/>
            <a:ext cx="310680" cy="338040"/>
          </a:xfrm>
          <a:prstGeom prst="rect">
            <a:avLst/>
          </a:prstGeom>
          <a:ln w="0">
            <a:noFill/>
          </a:ln>
        </p:spPr>
      </p:pic>
      <p:sp>
        <p:nvSpPr>
          <p:cNvPr id="107" name=""/>
          <p:cNvSpPr txBox="1"/>
          <p:nvPr/>
        </p:nvSpPr>
        <p:spPr>
          <a:xfrm>
            <a:off x="27000" y="1308600"/>
            <a:ext cx="180720" cy="346680"/>
          </a:xfrm>
          <a:prstGeom prst="rect">
            <a:avLst/>
          </a:prstGeom>
          <a:noFill/>
          <a:ln w="0">
            <a:noFill/>
          </a:ln>
        </p:spPr>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THREATS MATRIX</a:t>
            </a:r>
            <a:endParaRPr b="0" lang="en-US" sz="2700" spc="-1" strike="noStrike">
              <a:latin typeface="Arial"/>
            </a:endParaRPr>
          </a:p>
        </p:txBody>
      </p:sp>
      <p:sp>
        <p:nvSpPr>
          <p:cNvPr id="109" name="PlaceHolder 2"/>
          <p:cNvSpPr>
            <a:spLocks noGrp="1"/>
          </p:cNvSpPr>
          <p:nvPr>
            <p:ph/>
          </p:nvPr>
        </p:nvSpPr>
        <p:spPr>
          <a:xfrm>
            <a:off x="685800" y="2194560"/>
            <a:ext cx="2485080" cy="4023000"/>
          </a:xfrm>
          <a:prstGeom prst="rect">
            <a:avLst/>
          </a:prstGeom>
          <a:noFill/>
          <a:ln w="0">
            <a:noFill/>
          </a:ln>
        </p:spPr>
        <p:txBody>
          <a:bodyPr lIns="90000" rIns="90000" tIns="45000" bIns="45000" anchor="t">
            <a:normAutofit/>
          </a:bodyPr>
          <a:p>
            <a:pPr marL="457200" indent="-343080">
              <a:lnSpc>
                <a:spcPct val="90000"/>
              </a:lnSpc>
              <a:spcBef>
                <a:spcPts val="1001"/>
              </a:spcBef>
              <a:buClr>
                <a:srgbClr val="ffffff"/>
              </a:buClr>
              <a:buFont typeface="Arial"/>
              <a:buChar char="•"/>
            </a:pPr>
            <a:r>
              <a:rPr b="0" lang="en-US" sz="1500" spc="-1" strike="noStrike">
                <a:solidFill>
                  <a:srgbClr val="252f2a"/>
                </a:solidFill>
                <a:latin typeface="Aptos"/>
                <a:ea typeface="Century Gothic"/>
              </a:rPr>
              <a:t>Level 5 gets fixed first.</a:t>
            </a:r>
            <a:endParaRPr b="0" lang="en-US" sz="1500" spc="-1" strike="noStrike">
              <a:latin typeface="Arial"/>
            </a:endParaRPr>
          </a:p>
          <a:p>
            <a:pPr indent="0">
              <a:lnSpc>
                <a:spcPct val="90000"/>
              </a:lnSpc>
              <a:spcBef>
                <a:spcPts val="1001"/>
              </a:spcBef>
              <a:buNone/>
              <a:tabLst>
                <a:tab algn="l" pos="0"/>
              </a:tabLst>
            </a:pPr>
            <a:endParaRPr b="0" lang="en-US" sz="1650" spc="-1" strike="noStrike">
              <a:latin typeface="Arial"/>
            </a:endParaRPr>
          </a:p>
          <a:p>
            <a:pPr marL="457200" indent="-343080">
              <a:lnSpc>
                <a:spcPct val="90000"/>
              </a:lnSpc>
              <a:spcBef>
                <a:spcPts val="1001"/>
              </a:spcBef>
              <a:buClr>
                <a:srgbClr val="ffffff"/>
              </a:buClr>
              <a:buFont typeface="Arial"/>
              <a:buChar char="•"/>
              <a:tabLst>
                <a:tab algn="l" pos="0"/>
              </a:tabLst>
            </a:pPr>
            <a:r>
              <a:rPr b="0" lang="en-US" sz="1500" spc="-1" strike="noStrike">
                <a:solidFill>
                  <a:srgbClr val="252f2a"/>
                </a:solidFill>
                <a:latin typeface="Aptos"/>
                <a:ea typeface="Century Gothic"/>
              </a:rPr>
              <a:t>Level 4 comes next because these problems can affect memory, data, or how the program runs.</a:t>
            </a:r>
            <a:endParaRPr b="0" lang="en-US" sz="1500" spc="-1" strike="noStrike">
              <a:latin typeface="Arial"/>
            </a:endParaRPr>
          </a:p>
          <a:p>
            <a:pPr indent="0">
              <a:lnSpc>
                <a:spcPct val="90000"/>
              </a:lnSpc>
              <a:spcBef>
                <a:spcPts val="1001"/>
              </a:spcBef>
              <a:buNone/>
              <a:tabLst>
                <a:tab algn="l" pos="0"/>
              </a:tabLst>
            </a:pPr>
            <a:endParaRPr b="0" lang="en-US" sz="1650" spc="-1" strike="noStrike">
              <a:latin typeface="Arial"/>
            </a:endParaRPr>
          </a:p>
          <a:p>
            <a:pPr marL="457200" indent="-343080">
              <a:lnSpc>
                <a:spcPct val="90000"/>
              </a:lnSpc>
              <a:spcBef>
                <a:spcPts val="1001"/>
              </a:spcBef>
              <a:buClr>
                <a:srgbClr val="ffffff"/>
              </a:buClr>
              <a:buFont typeface="Arial"/>
              <a:buChar char="•"/>
              <a:tabLst>
                <a:tab algn="l" pos="0"/>
              </a:tabLst>
            </a:pPr>
            <a:r>
              <a:rPr b="0" lang="en-US" sz="1500" spc="-1" strike="noStrike">
                <a:solidFill>
                  <a:srgbClr val="252f2a"/>
                </a:solidFill>
                <a:latin typeface="Aptos"/>
                <a:ea typeface="Century Gothic"/>
              </a:rPr>
              <a:t>Levels 2 and 3 still get fixed, just after the higher risks.</a:t>
            </a:r>
            <a:endParaRPr b="0" lang="en-US" sz="1500" spc="-1" strike="noStrike">
              <a:latin typeface="Arial"/>
            </a:endParaRPr>
          </a:p>
        </p:txBody>
      </p:sp>
      <p:graphicFrame>
        <p:nvGraphicFramePr>
          <p:cNvPr id="110" name="Google Shape;161;p4"/>
          <p:cNvGraphicFramePr/>
          <p:nvPr/>
        </p:nvGraphicFramePr>
        <p:xfrm>
          <a:off x="3171960" y="2561040"/>
          <a:ext cx="7834680" cy="3538080"/>
        </p:xfrm>
        <a:graphic>
          <a:graphicData uri="http://schemas.openxmlformats.org/drawingml/2006/table">
            <a:tbl>
              <a:tblPr/>
              <a:tblGrid>
                <a:gridCol w="4030200"/>
                <a:gridCol w="3804840"/>
              </a:tblGrid>
              <a:tr h="1769040">
                <a:tc>
                  <a:txBody>
                    <a:bodyPr lIns="146160" rIns="146160" tIns="118800" bIns="118800" anchor="t">
                      <a:noAutofit/>
                    </a:bodyPr>
                    <a:p>
                      <a:pPr algn="ctr">
                        <a:lnSpc>
                          <a:spcPct val="100000"/>
                        </a:lnSpc>
                        <a:tabLst>
                          <a:tab algn="l" pos="0"/>
                        </a:tabLst>
                      </a:pPr>
                      <a:r>
                        <a:rPr b="1" lang="en-US" sz="1600" spc="-1" strike="noStrike">
                          <a:solidFill>
                            <a:srgbClr val="a6473b"/>
                          </a:solidFill>
                          <a:latin typeface="Aptos"/>
                          <a:ea typeface="Arial"/>
                        </a:rPr>
                        <a:t>Likely</a:t>
                      </a:r>
                      <a:endParaRPr b="0" lang="en-US" sz="1600" spc="-1" strike="noStrike">
                        <a:latin typeface="Arial"/>
                      </a:endParaRPr>
                    </a:p>
                    <a:p>
                      <a:pPr algn="ctr">
                        <a:lnSpc>
                          <a:spcPct val="100000"/>
                        </a:lnSpc>
                        <a:spcBef>
                          <a:spcPts val="300"/>
                        </a:spcBef>
                        <a:tabLst>
                          <a:tab algn="l" pos="0"/>
                        </a:tabLst>
                      </a:pPr>
                      <a:r>
                        <a:rPr b="0" lang="en-US" sz="1500" spc="-1" strike="noStrike">
                          <a:solidFill>
                            <a:srgbClr val="252f2a"/>
                          </a:solidFill>
                          <a:latin typeface="Aptos"/>
                          <a:ea typeface="Arial"/>
                        </a:rPr>
                        <a:t>STD-004-CPP</a:t>
                      </a:r>
                      <a:br>
                        <a:rPr sz="1500"/>
                      </a:br>
                      <a:r>
                        <a:rPr b="0" lang="en-US" sz="1500" spc="-1" strike="noStrike">
                          <a:solidFill>
                            <a:srgbClr val="252f2a"/>
                          </a:solidFill>
                          <a:latin typeface="Aptos"/>
                          <a:ea typeface="Arial"/>
                        </a:rPr>
                        <a:t>SQL injection</a:t>
                      </a:r>
                      <a:br>
                        <a:rPr sz="1500"/>
                      </a:br>
                      <a:r>
                        <a:rPr b="0" lang="en-US" sz="1500" spc="-1" strike="noStrike">
                          <a:solidFill>
                            <a:srgbClr val="252f2a"/>
                          </a:solidFill>
                          <a:latin typeface="Aptos"/>
                          <a:ea typeface="Arial"/>
                        </a:rPr>
                        <a:t>Level 5</a:t>
                      </a:r>
                      <a:endParaRPr b="0" lang="en-US" sz="1500" spc="-1" strike="noStrike">
                        <a:latin typeface="Arial"/>
                      </a:endParaRPr>
                    </a:p>
                  </a:txBody>
                  <a:tcPr anchor="t" marL="146160" marR="146160">
                    <a:lnL w="28080">
                      <a:solidFill>
                        <a:srgbClr val="9e9e9e"/>
                      </a:solidFill>
                    </a:lnL>
                    <a:lnR w="28080">
                      <a:solidFill>
                        <a:srgbClr val="9e9e9e"/>
                      </a:solidFill>
                    </a:lnR>
                    <a:lnT w="28080">
                      <a:solidFill>
                        <a:srgbClr val="9e9e9e"/>
                      </a:solidFill>
                    </a:lnT>
                    <a:lnB w="28080">
                      <a:solidFill>
                        <a:srgbClr val="9e9e9e"/>
                      </a:solidFill>
                    </a:lnB>
                    <a:solidFill>
                      <a:srgbClr val="f6e3e0"/>
                    </a:solidFill>
                  </a:tcPr>
                </a:tc>
                <a:tc>
                  <a:txBody>
                    <a:bodyPr lIns="146160" rIns="146160" tIns="118800" bIns="118800" anchor="t">
                      <a:noAutofit/>
                    </a:bodyPr>
                    <a:p>
                      <a:pPr algn="ctr">
                        <a:lnSpc>
                          <a:spcPct val="100000"/>
                        </a:lnSpc>
                        <a:tabLst>
                          <a:tab algn="l" pos="0"/>
                        </a:tabLst>
                      </a:pPr>
                      <a:r>
                        <a:rPr b="1" lang="en-US" sz="1600" spc="-1" strike="noStrike">
                          <a:solidFill>
                            <a:srgbClr val="c28426"/>
                          </a:solidFill>
                          <a:latin typeface="Aptos"/>
                          <a:ea typeface="Arial"/>
                        </a:rPr>
                        <a:t>Priority</a:t>
                      </a:r>
                      <a:endParaRPr b="0" lang="en-US" sz="1600" spc="-1" strike="noStrike">
                        <a:latin typeface="Arial"/>
                      </a:endParaRPr>
                    </a:p>
                    <a:p>
                      <a:pPr algn="ctr">
                        <a:lnSpc>
                          <a:spcPct val="100000"/>
                        </a:lnSpc>
                        <a:spcBef>
                          <a:spcPts val="300"/>
                        </a:spcBef>
                        <a:tabLst>
                          <a:tab algn="l" pos="0"/>
                        </a:tabLst>
                      </a:pPr>
                      <a:r>
                        <a:rPr b="0" lang="en-US" sz="1500" spc="-1" strike="noStrike">
                          <a:solidFill>
                            <a:srgbClr val="252f2a"/>
                          </a:solidFill>
                          <a:latin typeface="Aptos"/>
                          <a:ea typeface="Arial"/>
                        </a:rPr>
                        <a:t>STD-001, 002, 003, 004, 005,</a:t>
                      </a:r>
                      <a:br>
                        <a:rPr sz="1450"/>
                      </a:br>
                      <a:r>
                        <a:rPr b="0" lang="en-US" sz="1500" spc="-1" strike="noStrike">
                          <a:solidFill>
                            <a:srgbClr val="252f2a"/>
                          </a:solidFill>
                          <a:latin typeface="Aptos"/>
                          <a:ea typeface="Arial"/>
                        </a:rPr>
                        <a:t>008, 009, 010</a:t>
                      </a:r>
                      <a:endParaRPr b="0" lang="en-US" sz="1500" spc="-1" strike="noStrike">
                        <a:latin typeface="Arial"/>
                      </a:endParaRPr>
                    </a:p>
                  </a:txBody>
                  <a:tcPr anchor="t" marL="146160" marR="146160">
                    <a:lnL w="28080">
                      <a:solidFill>
                        <a:srgbClr val="9e9e9e"/>
                      </a:solidFill>
                    </a:lnL>
                    <a:lnR w="28080">
                      <a:solidFill>
                        <a:srgbClr val="9e9e9e"/>
                      </a:solidFill>
                    </a:lnR>
                    <a:lnT w="28080">
                      <a:solidFill>
                        <a:srgbClr val="9e9e9e"/>
                      </a:solidFill>
                    </a:lnT>
                    <a:lnB w="28080">
                      <a:solidFill>
                        <a:srgbClr val="9e9e9e"/>
                      </a:solidFill>
                    </a:lnB>
                    <a:solidFill>
                      <a:srgbClr val="f8efd8"/>
                    </a:solidFill>
                  </a:tcPr>
                </a:tc>
              </a:tr>
              <a:tr h="1769400">
                <a:tc>
                  <a:txBody>
                    <a:bodyPr lIns="146160" rIns="146160" tIns="118800" bIns="118800" anchor="t">
                      <a:noAutofit/>
                    </a:bodyPr>
                    <a:p>
                      <a:pPr algn="ctr">
                        <a:lnSpc>
                          <a:spcPct val="100000"/>
                        </a:lnSpc>
                        <a:tabLst>
                          <a:tab algn="l" pos="0"/>
                        </a:tabLst>
                      </a:pPr>
                      <a:r>
                        <a:rPr b="1" lang="en-US" sz="1600" spc="-1" strike="noStrike">
                          <a:solidFill>
                            <a:srgbClr val="256f6f"/>
                          </a:solidFill>
                          <a:latin typeface="Aptos"/>
                          <a:ea typeface="Arial"/>
                        </a:rPr>
                        <a:t>Lower priority</a:t>
                      </a:r>
                      <a:endParaRPr b="0" lang="en-US" sz="1600" spc="-1" strike="noStrike">
                        <a:latin typeface="Arial"/>
                      </a:endParaRPr>
                    </a:p>
                    <a:p>
                      <a:pPr algn="ctr">
                        <a:lnSpc>
                          <a:spcPct val="100000"/>
                        </a:lnSpc>
                        <a:spcBef>
                          <a:spcPts val="300"/>
                        </a:spcBef>
                        <a:tabLst>
                          <a:tab algn="l" pos="0"/>
                        </a:tabLst>
                      </a:pPr>
                      <a:r>
                        <a:rPr b="0" lang="en-US" sz="1500" spc="-1" strike="noStrike">
                          <a:solidFill>
                            <a:srgbClr val="252f2a"/>
                          </a:solidFill>
                          <a:latin typeface="Aptos"/>
                          <a:ea typeface="Arial"/>
                        </a:rPr>
                        <a:t>STD-006-CPP — Level 3</a:t>
                      </a:r>
                      <a:br>
                        <a:rPr sz="1450"/>
                      </a:br>
                      <a:r>
                        <a:rPr b="0" lang="en-US" sz="1500" spc="-1" strike="noStrike">
                          <a:solidFill>
                            <a:srgbClr val="252f2a"/>
                          </a:solidFill>
                          <a:latin typeface="Aptos"/>
                          <a:ea typeface="Arial"/>
                        </a:rPr>
                        <a:t>STD-007-CPP — Level 2</a:t>
                      </a:r>
                      <a:endParaRPr b="0" lang="en-US" sz="1500" spc="-1" strike="noStrike">
                        <a:latin typeface="Arial"/>
                      </a:endParaRPr>
                    </a:p>
                  </a:txBody>
                  <a:tcPr anchor="t" marL="146160" marR="146160">
                    <a:lnL w="28080">
                      <a:solidFill>
                        <a:srgbClr val="9e9e9e"/>
                      </a:solidFill>
                    </a:lnL>
                    <a:lnR w="28080">
                      <a:solidFill>
                        <a:srgbClr val="9e9e9e"/>
                      </a:solidFill>
                    </a:lnR>
                    <a:lnT w="28080">
                      <a:solidFill>
                        <a:srgbClr val="9e9e9e"/>
                      </a:solidFill>
                    </a:lnT>
                    <a:lnB w="28080">
                      <a:solidFill>
                        <a:srgbClr val="9e9e9e"/>
                      </a:solidFill>
                    </a:lnB>
                    <a:solidFill>
                      <a:srgbClr val="e1efef"/>
                    </a:solidFill>
                  </a:tcPr>
                </a:tc>
                <a:tc>
                  <a:txBody>
                    <a:bodyPr lIns="146160" rIns="146160" tIns="118800" bIns="118800" anchor="t">
                      <a:noAutofit/>
                    </a:bodyPr>
                    <a:p>
                      <a:pPr algn="ctr">
                        <a:lnSpc>
                          <a:spcPct val="100000"/>
                        </a:lnSpc>
                        <a:tabLst>
                          <a:tab algn="l" pos="0"/>
                        </a:tabLst>
                      </a:pPr>
                      <a:r>
                        <a:rPr b="1" lang="en-US" sz="1600" spc="-1" strike="noStrike">
                          <a:solidFill>
                            <a:srgbClr val="377c49"/>
                          </a:solidFill>
                          <a:latin typeface="Aptos"/>
                          <a:ea typeface="Arial"/>
                        </a:rPr>
                        <a:t>Unlikely</a:t>
                      </a:r>
                      <a:endParaRPr b="0" lang="en-US" sz="1600" spc="-1" strike="noStrike">
                        <a:latin typeface="Arial"/>
                      </a:endParaRPr>
                    </a:p>
                    <a:p>
                      <a:pPr algn="ctr">
                        <a:lnSpc>
                          <a:spcPct val="100000"/>
                        </a:lnSpc>
                        <a:spcBef>
                          <a:spcPts val="300"/>
                        </a:spcBef>
                        <a:tabLst>
                          <a:tab algn="l" pos="0"/>
                        </a:tabLst>
                      </a:pPr>
                      <a:r>
                        <a:rPr b="0" lang="en-US" sz="1500" spc="-1" strike="noStrike">
                          <a:solidFill>
                            <a:srgbClr val="252f2a"/>
                          </a:solidFill>
                          <a:latin typeface="Aptos"/>
                          <a:ea typeface="Arial"/>
                        </a:rPr>
                        <a:t>STD-007-CPP</a:t>
                      </a:r>
                      <a:br>
                        <a:rPr sz="1500"/>
                      </a:br>
                      <a:r>
                        <a:rPr b="0" lang="en-US" sz="1500" spc="-1" strike="noStrike">
                          <a:solidFill>
                            <a:srgbClr val="252f2a"/>
                          </a:solidFill>
                          <a:latin typeface="Aptos"/>
                          <a:ea typeface="Arial"/>
                        </a:rPr>
                        <a:t>Exception issue</a:t>
                      </a:r>
                      <a:br>
                        <a:rPr sz="1500"/>
                      </a:br>
                      <a:r>
                        <a:rPr b="0" lang="en-US" sz="1500" spc="-1" strike="noStrike">
                          <a:solidFill>
                            <a:srgbClr val="252f2a"/>
                          </a:solidFill>
                          <a:latin typeface="Aptos"/>
                          <a:ea typeface="Arial"/>
                        </a:rPr>
                        <a:t>Level 2</a:t>
                      </a:r>
                      <a:endParaRPr b="0" lang="en-US" sz="1500" spc="-1" strike="noStrike">
                        <a:latin typeface="Arial"/>
                      </a:endParaRPr>
                    </a:p>
                  </a:txBody>
                  <a:tcPr anchor="t" marL="146160" marR="146160">
                    <a:lnL w="28080">
                      <a:solidFill>
                        <a:srgbClr val="9e9e9e"/>
                      </a:solidFill>
                    </a:lnL>
                    <a:lnR w="28080">
                      <a:solidFill>
                        <a:srgbClr val="9e9e9e"/>
                      </a:solidFill>
                    </a:lnR>
                    <a:lnT w="28080">
                      <a:solidFill>
                        <a:srgbClr val="9e9e9e"/>
                      </a:solidFill>
                    </a:lnT>
                    <a:lnB w="28080">
                      <a:solidFill>
                        <a:srgbClr val="9e9e9e"/>
                      </a:solidFill>
                    </a:lnB>
                    <a:solidFill>
                      <a:srgbClr val="e8f2e9"/>
                    </a:solidFill>
                  </a:tcPr>
                </a:tc>
              </a:tr>
            </a:tbl>
          </a:graphicData>
        </a:graphic>
      </p:graphicFrame>
      <p:sp>
        <p:nvSpPr>
          <p:cNvPr id="111" name="Rectangle 97"/>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2" name="Rectangle 98"/>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 name="Rectangle 99"/>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 name="TextBox 100"/>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15" name="TextBox 101"/>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3</a:t>
            </a:r>
            <a:endParaRPr b="0" lang="en-US" sz="900" spc="-1" strike="noStrike">
              <a:latin typeface="Arial"/>
            </a:endParaRPr>
          </a:p>
        </p:txBody>
      </p:sp>
      <p:pic>
        <p:nvPicPr>
          <p:cNvPr id="116" name="Picture 102"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10 PRINCIPLES</a:t>
            </a:r>
            <a:endParaRPr b="0" lang="en-US" sz="2700" spc="-1" strike="noStrike">
              <a:latin typeface="Arial"/>
            </a:endParaRPr>
          </a:p>
        </p:txBody>
      </p:sp>
      <p:sp>
        <p:nvSpPr>
          <p:cNvPr id="118" name="PlaceHolder 2"/>
          <p:cNvSpPr>
            <a:spLocks noGrp="1"/>
          </p:cNvSpPr>
          <p:nvPr>
            <p:ph/>
          </p:nvPr>
        </p:nvSpPr>
        <p:spPr>
          <a:xfrm>
            <a:off x="685800" y="2194560"/>
            <a:ext cx="10819440" cy="4023000"/>
          </a:xfrm>
          <a:prstGeom prst="rect">
            <a:avLst/>
          </a:prstGeom>
          <a:noFill/>
          <a:ln w="0">
            <a:noFill/>
          </a:ln>
        </p:spPr>
        <p:txBody>
          <a:bodyPr lIns="90000" rIns="90000" tIns="45000" bIns="45000" anchor="t">
            <a:normAutofit/>
          </a:bodyPr>
          <a:p>
            <a:pPr indent="0">
              <a:spcBef>
                <a:spcPts val="1417"/>
              </a:spcBef>
              <a:buNone/>
            </a:pPr>
            <a:endParaRPr b="0" lang="en-US" sz="3200" spc="-1" strike="noStrike">
              <a:latin typeface="Arial"/>
            </a:endParaRPr>
          </a:p>
        </p:txBody>
      </p:sp>
      <p:sp>
        <p:nvSpPr>
          <p:cNvPr id="119" name="Rounded Rectangle 169"/>
          <p:cNvSpPr/>
          <p:nvPr/>
        </p:nvSpPr>
        <p:spPr>
          <a:xfrm>
            <a:off x="713160" y="1938600"/>
            <a:ext cx="5256720" cy="38851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900" spc="-1" strike="noStrike">
                <a:solidFill>
                  <a:srgbClr val="377c49"/>
                </a:solidFill>
                <a:latin typeface="Aptos"/>
                <a:ea typeface="Arial"/>
              </a:rPr>
              <a:t>Principles 1-5</a:t>
            </a:r>
            <a:endParaRPr b="0" lang="en-US" sz="1900" spc="-1" strike="noStrike">
              <a:latin typeface="Arial"/>
            </a:endParaRPr>
          </a:p>
          <a:p>
            <a:pPr>
              <a:lnSpc>
                <a:spcPct val="100000"/>
              </a:lnSpc>
            </a:pPr>
            <a:r>
              <a:rPr b="0" lang="en-US" sz="1420" spc="-1" strike="noStrike">
                <a:solidFill>
                  <a:srgbClr val="252f2a"/>
                </a:solidFill>
                <a:latin typeface="Aptos"/>
                <a:ea typeface="Arial"/>
              </a:rPr>
              <a:t>1. Validate Input Data — 001, 002, 003, 004, 010</a:t>
            </a:r>
            <a:br>
              <a:rPr sz="1420"/>
            </a:br>
            <a:br>
              <a:rPr sz="1420"/>
            </a:br>
            <a:r>
              <a:rPr b="0" lang="en-US" sz="1420" spc="-1" strike="noStrike">
                <a:solidFill>
                  <a:srgbClr val="252f2a"/>
                </a:solidFill>
                <a:latin typeface="Aptos"/>
                <a:ea typeface="Arial"/>
              </a:rPr>
              <a:t>2. Heed Compiler Warnings — 001, 002, 005, 006, 008</a:t>
            </a:r>
            <a:br>
              <a:rPr sz="1420"/>
            </a:br>
            <a:br>
              <a:rPr sz="1420"/>
            </a:br>
            <a:r>
              <a:rPr b="0" lang="en-US" sz="1420" spc="-1" strike="noStrike">
                <a:solidFill>
                  <a:srgbClr val="252f2a"/>
                </a:solidFill>
                <a:latin typeface="Aptos"/>
                <a:ea typeface="Arial"/>
              </a:rPr>
              <a:t>3. Design for Security Policies — policy-wide</a:t>
            </a:r>
            <a:br>
              <a:rPr sz="1420"/>
            </a:br>
            <a:br>
              <a:rPr sz="1420"/>
            </a:br>
            <a:r>
              <a:rPr b="0" lang="en-US" sz="1420" spc="-1" strike="noStrike">
                <a:solidFill>
                  <a:srgbClr val="252f2a"/>
                </a:solidFill>
                <a:latin typeface="Aptos"/>
                <a:ea typeface="Arial"/>
              </a:rPr>
              <a:t>4. Keep It Simple — 003, 005, 007, 008, 009, 010</a:t>
            </a:r>
            <a:br>
              <a:rPr sz="1420"/>
            </a:br>
            <a:br>
              <a:rPr sz="1420"/>
            </a:br>
            <a:r>
              <a:rPr b="0" lang="en-US" sz="1420" spc="-1" strike="noStrike">
                <a:solidFill>
                  <a:srgbClr val="252f2a"/>
                </a:solidFill>
                <a:latin typeface="Aptos"/>
                <a:ea typeface="Arial"/>
              </a:rPr>
              <a:t>5. Default Deny — access / Triple-A policy</a:t>
            </a:r>
            <a:endParaRPr b="0" lang="en-US" sz="1420" spc="-1" strike="noStrike">
              <a:latin typeface="Arial"/>
            </a:endParaRPr>
          </a:p>
        </p:txBody>
      </p:sp>
      <p:sp>
        <p:nvSpPr>
          <p:cNvPr id="120" name="Rounded Rectangle 170"/>
          <p:cNvSpPr/>
          <p:nvPr/>
        </p:nvSpPr>
        <p:spPr>
          <a:xfrm>
            <a:off x="6126480" y="1938600"/>
            <a:ext cx="4890960" cy="38851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900" spc="-1" strike="noStrike">
                <a:solidFill>
                  <a:srgbClr val="377c49"/>
                </a:solidFill>
                <a:latin typeface="Aptos"/>
                <a:ea typeface="Arial"/>
              </a:rPr>
              <a:t>Principles 6-10</a:t>
            </a:r>
            <a:endParaRPr b="0" lang="en-US" sz="1900" spc="-1" strike="noStrike">
              <a:latin typeface="Arial"/>
            </a:endParaRPr>
          </a:p>
          <a:p>
            <a:pPr>
              <a:lnSpc>
                <a:spcPct val="100000"/>
              </a:lnSpc>
            </a:pPr>
            <a:r>
              <a:rPr b="0" lang="en-US" sz="1400" spc="-1" strike="noStrike">
                <a:solidFill>
                  <a:srgbClr val="252f2a"/>
                </a:solidFill>
                <a:latin typeface="Aptos"/>
                <a:ea typeface="Arial"/>
              </a:rPr>
              <a:t>6. Least Privilege — access / Triple-A policy</a:t>
            </a:r>
            <a:br>
              <a:rPr sz="1400"/>
            </a:br>
            <a:br>
              <a:rPr sz="1400"/>
            </a:br>
            <a:r>
              <a:rPr b="0" lang="en-US" sz="1400" spc="-1" strike="noStrike">
                <a:solidFill>
                  <a:srgbClr val="252f2a"/>
                </a:solidFill>
                <a:latin typeface="Aptos"/>
                <a:ea typeface="Arial"/>
              </a:rPr>
              <a:t>7. Sanitize Data Sent to Other Systems — 004</a:t>
            </a:r>
            <a:br>
              <a:rPr sz="1400"/>
            </a:br>
            <a:br>
              <a:rPr sz="1400"/>
            </a:br>
            <a:r>
              <a:rPr b="0" lang="en-US" sz="1400" spc="-1" strike="noStrike">
                <a:solidFill>
                  <a:srgbClr val="252f2a"/>
                </a:solidFill>
                <a:latin typeface="Aptos"/>
                <a:ea typeface="Arial"/>
              </a:rPr>
              <a:t>8. Practice Defense in Depth — 004 + policy layers</a:t>
            </a:r>
            <a:br>
              <a:rPr sz="1400"/>
            </a:br>
            <a:br>
              <a:rPr sz="1400"/>
            </a:br>
            <a:r>
              <a:rPr b="0" lang="en-US" sz="1400" spc="-1" strike="noStrike">
                <a:solidFill>
                  <a:srgbClr val="252f2a"/>
                </a:solidFill>
                <a:latin typeface="Aptos"/>
                <a:ea typeface="Arial"/>
              </a:rPr>
              <a:t>9. Quality Assurance — 002, 003, 005, 006, 007, 008, 009, 010</a:t>
            </a:r>
            <a:br>
              <a:rPr sz="1400"/>
            </a:br>
            <a:br>
              <a:rPr sz="1400"/>
            </a:br>
            <a:r>
              <a:rPr b="0" lang="en-US" sz="1400" spc="-1" strike="noStrike">
                <a:solidFill>
                  <a:srgbClr val="252f2a"/>
                </a:solidFill>
                <a:latin typeface="Aptos"/>
                <a:ea typeface="Arial"/>
              </a:rPr>
              <a:t>10. Adopt a Secure Coding Standard — 001 through 010</a:t>
            </a:r>
            <a:endParaRPr b="0" lang="en-US" sz="1400" spc="-1" strike="noStrike">
              <a:latin typeface="Arial"/>
            </a:endParaRPr>
          </a:p>
        </p:txBody>
      </p:sp>
      <p:sp>
        <p:nvSpPr>
          <p:cNvPr id="121" name="TextBox 171"/>
          <p:cNvSpPr/>
          <p:nvPr/>
        </p:nvSpPr>
        <p:spPr>
          <a:xfrm>
            <a:off x="777240" y="5925240"/>
            <a:ext cx="10057320" cy="2419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000" spc="-1" strike="noStrike">
                <a:solidFill>
                  <a:srgbClr val="64756b"/>
                </a:solidFill>
                <a:latin typeface="Aptos"/>
                <a:ea typeface="Arial"/>
              </a:rPr>
              <a:t>Principles 3, 5, and 6 are mostly used in the system and access rules, not one C++ rule.</a:t>
            </a:r>
            <a:endParaRPr b="0" lang="en-US" sz="1000" spc="-1" strike="noStrike">
              <a:latin typeface="Arial"/>
            </a:endParaRPr>
          </a:p>
        </p:txBody>
      </p:sp>
      <p:sp>
        <p:nvSpPr>
          <p:cNvPr id="122" name="Rectangle 104"/>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3" name="Rectangle 105"/>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 name="Rectangle 106"/>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5" name="TextBox 107"/>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26" name="TextBox 108"/>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4</a:t>
            </a:r>
            <a:endParaRPr b="0" lang="en-US" sz="900" spc="-1" strike="noStrike">
              <a:latin typeface="Arial"/>
            </a:endParaRPr>
          </a:p>
        </p:txBody>
      </p:sp>
      <p:pic>
        <p:nvPicPr>
          <p:cNvPr id="127" name="Picture 109"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CODING STANDARDS: PRIORITY ORDER</a:t>
            </a:r>
            <a:endParaRPr b="0" lang="en-US" sz="2700" spc="-1" strike="noStrike">
              <a:latin typeface="Arial"/>
            </a:endParaRPr>
          </a:p>
        </p:txBody>
      </p:sp>
      <p:sp>
        <p:nvSpPr>
          <p:cNvPr id="129" name="TextBox 176"/>
          <p:cNvSpPr/>
          <p:nvPr/>
        </p:nvSpPr>
        <p:spPr>
          <a:xfrm>
            <a:off x="713160" y="187452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1</a:t>
            </a:r>
            <a:endParaRPr b="0" lang="en-US" sz="1600" spc="-1" strike="noStrike">
              <a:latin typeface="Arial"/>
            </a:endParaRPr>
          </a:p>
        </p:txBody>
      </p:sp>
      <p:sp>
        <p:nvSpPr>
          <p:cNvPr id="130" name="TextBox 177"/>
          <p:cNvSpPr/>
          <p:nvPr/>
        </p:nvSpPr>
        <p:spPr>
          <a:xfrm>
            <a:off x="1106280" y="187452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a6473b"/>
                </a:solidFill>
                <a:latin typeface="Aptos"/>
                <a:ea typeface="Arial"/>
              </a:rPr>
              <a:t>STD-004-CPP  |  L5</a:t>
            </a:r>
            <a:endParaRPr b="0" lang="en-US" sz="1250" spc="-1" strike="noStrike">
              <a:latin typeface="Arial"/>
            </a:endParaRPr>
          </a:p>
        </p:txBody>
      </p:sp>
      <p:sp>
        <p:nvSpPr>
          <p:cNvPr id="131" name="TextBox 178"/>
          <p:cNvSpPr/>
          <p:nvPr/>
        </p:nvSpPr>
        <p:spPr>
          <a:xfrm>
            <a:off x="2587680" y="1856160"/>
            <a:ext cx="3427920" cy="485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SQL injection — keep input out of SQL commands</a:t>
            </a:r>
            <a:endParaRPr b="0" lang="en-US" sz="1300" spc="-1" strike="noStrike">
              <a:latin typeface="Arial"/>
            </a:endParaRPr>
          </a:p>
        </p:txBody>
      </p:sp>
      <p:sp>
        <p:nvSpPr>
          <p:cNvPr id="132" name="TextBox 179"/>
          <p:cNvSpPr/>
          <p:nvPr/>
        </p:nvSpPr>
        <p:spPr>
          <a:xfrm>
            <a:off x="713160" y="263340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2</a:t>
            </a:r>
            <a:endParaRPr b="0" lang="en-US" sz="1600" spc="-1" strike="noStrike">
              <a:latin typeface="Arial"/>
            </a:endParaRPr>
          </a:p>
        </p:txBody>
      </p:sp>
      <p:sp>
        <p:nvSpPr>
          <p:cNvPr id="133" name="TextBox 180"/>
          <p:cNvSpPr/>
          <p:nvPr/>
        </p:nvSpPr>
        <p:spPr>
          <a:xfrm>
            <a:off x="1106280" y="263340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STD-003-CPP  |  L4</a:t>
            </a:r>
            <a:endParaRPr b="0" lang="en-US" sz="1250" spc="-1" strike="noStrike">
              <a:latin typeface="Arial"/>
            </a:endParaRPr>
          </a:p>
        </p:txBody>
      </p:sp>
      <p:sp>
        <p:nvSpPr>
          <p:cNvPr id="134" name="TextBox 181"/>
          <p:cNvSpPr/>
          <p:nvPr/>
        </p:nvSpPr>
        <p:spPr>
          <a:xfrm>
            <a:off x="2587680" y="261504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String correctness — limit string input</a:t>
            </a:r>
            <a:endParaRPr b="0" lang="en-US" sz="1300" spc="-1" strike="noStrike">
              <a:latin typeface="Arial"/>
            </a:endParaRPr>
          </a:p>
        </p:txBody>
      </p:sp>
      <p:sp>
        <p:nvSpPr>
          <p:cNvPr id="135" name="TextBox 182"/>
          <p:cNvSpPr/>
          <p:nvPr/>
        </p:nvSpPr>
        <p:spPr>
          <a:xfrm>
            <a:off x="713160" y="339228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3</a:t>
            </a:r>
            <a:endParaRPr b="0" lang="en-US" sz="1600" spc="-1" strike="noStrike">
              <a:latin typeface="Arial"/>
            </a:endParaRPr>
          </a:p>
        </p:txBody>
      </p:sp>
      <p:sp>
        <p:nvSpPr>
          <p:cNvPr id="136" name="TextBox 183"/>
          <p:cNvSpPr/>
          <p:nvPr/>
        </p:nvSpPr>
        <p:spPr>
          <a:xfrm>
            <a:off x="1106280" y="339228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STD-005-CPP  |  L4</a:t>
            </a:r>
            <a:endParaRPr b="0" lang="en-US" sz="1250" spc="-1" strike="noStrike">
              <a:latin typeface="Arial"/>
            </a:endParaRPr>
          </a:p>
        </p:txBody>
      </p:sp>
      <p:sp>
        <p:nvSpPr>
          <p:cNvPr id="137" name="TextBox 184"/>
          <p:cNvSpPr/>
          <p:nvPr/>
        </p:nvSpPr>
        <p:spPr>
          <a:xfrm>
            <a:off x="2587680" y="3374280"/>
            <a:ext cx="3427920" cy="485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Memory protection — check pointers before use</a:t>
            </a:r>
            <a:endParaRPr b="0" lang="en-US" sz="1300" spc="-1" strike="noStrike">
              <a:latin typeface="Arial"/>
            </a:endParaRPr>
          </a:p>
        </p:txBody>
      </p:sp>
      <p:sp>
        <p:nvSpPr>
          <p:cNvPr id="138" name="TextBox 185"/>
          <p:cNvSpPr/>
          <p:nvPr/>
        </p:nvSpPr>
        <p:spPr>
          <a:xfrm>
            <a:off x="713160" y="415152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4</a:t>
            </a:r>
            <a:endParaRPr b="0" lang="en-US" sz="1600" spc="-1" strike="noStrike">
              <a:latin typeface="Arial"/>
            </a:endParaRPr>
          </a:p>
        </p:txBody>
      </p:sp>
      <p:sp>
        <p:nvSpPr>
          <p:cNvPr id="139" name="TextBox 186"/>
          <p:cNvSpPr/>
          <p:nvPr/>
        </p:nvSpPr>
        <p:spPr>
          <a:xfrm>
            <a:off x="1106280" y="415152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STD-010-CPP  |  L4</a:t>
            </a:r>
            <a:endParaRPr b="0" lang="en-US" sz="1250" spc="-1" strike="noStrike">
              <a:latin typeface="Arial"/>
            </a:endParaRPr>
          </a:p>
        </p:txBody>
      </p:sp>
      <p:sp>
        <p:nvSpPr>
          <p:cNvPr id="140" name="TextBox 187"/>
          <p:cNvSpPr/>
          <p:nvPr/>
        </p:nvSpPr>
        <p:spPr>
          <a:xfrm>
            <a:off x="2587680" y="413316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Bounds checking — check index values</a:t>
            </a:r>
            <a:endParaRPr b="0" lang="en-US" sz="1300" spc="-1" strike="noStrike">
              <a:latin typeface="Arial"/>
            </a:endParaRPr>
          </a:p>
        </p:txBody>
      </p:sp>
      <p:sp>
        <p:nvSpPr>
          <p:cNvPr id="141" name="TextBox 188"/>
          <p:cNvSpPr/>
          <p:nvPr/>
        </p:nvSpPr>
        <p:spPr>
          <a:xfrm>
            <a:off x="713160" y="491040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5</a:t>
            </a:r>
            <a:endParaRPr b="0" lang="en-US" sz="1600" spc="-1" strike="noStrike">
              <a:latin typeface="Arial"/>
            </a:endParaRPr>
          </a:p>
        </p:txBody>
      </p:sp>
      <p:sp>
        <p:nvSpPr>
          <p:cNvPr id="142" name="TextBox 189"/>
          <p:cNvSpPr/>
          <p:nvPr/>
        </p:nvSpPr>
        <p:spPr>
          <a:xfrm>
            <a:off x="1106280" y="491040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STD-008-CPP  |  L4</a:t>
            </a:r>
            <a:endParaRPr b="0" lang="en-US" sz="1250" spc="-1" strike="noStrike">
              <a:latin typeface="Arial"/>
            </a:endParaRPr>
          </a:p>
        </p:txBody>
      </p:sp>
      <p:sp>
        <p:nvSpPr>
          <p:cNvPr id="143" name="TextBox 190"/>
          <p:cNvSpPr/>
          <p:nvPr/>
        </p:nvSpPr>
        <p:spPr>
          <a:xfrm>
            <a:off x="2587680" y="4892040"/>
            <a:ext cx="3427920" cy="485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Uninitialized memory — initialize before use</a:t>
            </a:r>
            <a:endParaRPr b="0" lang="en-US" sz="1300" spc="-1" strike="noStrike">
              <a:latin typeface="Arial"/>
            </a:endParaRPr>
          </a:p>
        </p:txBody>
      </p:sp>
      <p:sp>
        <p:nvSpPr>
          <p:cNvPr id="144" name="TextBox 191"/>
          <p:cNvSpPr/>
          <p:nvPr/>
        </p:nvSpPr>
        <p:spPr>
          <a:xfrm>
            <a:off x="6245280" y="187452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6</a:t>
            </a:r>
            <a:endParaRPr b="0" lang="en-US" sz="1600" spc="-1" strike="noStrike">
              <a:latin typeface="Arial"/>
            </a:endParaRPr>
          </a:p>
        </p:txBody>
      </p:sp>
      <p:sp>
        <p:nvSpPr>
          <p:cNvPr id="145" name="TextBox 192"/>
          <p:cNvSpPr/>
          <p:nvPr/>
        </p:nvSpPr>
        <p:spPr>
          <a:xfrm>
            <a:off x="6638400" y="187452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STD-009-CPP  |  L4</a:t>
            </a:r>
            <a:endParaRPr b="0" lang="en-US" sz="1250" spc="-1" strike="noStrike">
              <a:latin typeface="Arial"/>
            </a:endParaRPr>
          </a:p>
        </p:txBody>
      </p:sp>
      <p:sp>
        <p:nvSpPr>
          <p:cNvPr id="146" name="TextBox 193"/>
          <p:cNvSpPr/>
          <p:nvPr/>
        </p:nvSpPr>
        <p:spPr>
          <a:xfrm>
            <a:off x="8119800" y="1856160"/>
            <a:ext cx="3427920" cy="485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Resource management — automatic cleanup</a:t>
            </a:r>
            <a:endParaRPr b="0" lang="en-US" sz="1300" spc="-1" strike="noStrike">
              <a:latin typeface="Arial"/>
            </a:endParaRPr>
          </a:p>
        </p:txBody>
      </p:sp>
      <p:sp>
        <p:nvSpPr>
          <p:cNvPr id="147" name="TextBox 194"/>
          <p:cNvSpPr/>
          <p:nvPr/>
        </p:nvSpPr>
        <p:spPr>
          <a:xfrm>
            <a:off x="6245280" y="263340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7</a:t>
            </a:r>
            <a:endParaRPr b="0" lang="en-US" sz="1600" spc="-1" strike="noStrike">
              <a:latin typeface="Arial"/>
            </a:endParaRPr>
          </a:p>
        </p:txBody>
      </p:sp>
      <p:sp>
        <p:nvSpPr>
          <p:cNvPr id="148" name="TextBox 195"/>
          <p:cNvSpPr/>
          <p:nvPr/>
        </p:nvSpPr>
        <p:spPr>
          <a:xfrm>
            <a:off x="6638400" y="263340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c28426"/>
                </a:solidFill>
                <a:latin typeface="Aptos"/>
                <a:ea typeface="Arial"/>
              </a:rPr>
              <a:t>STD-002-CPP  |  L4</a:t>
            </a:r>
            <a:endParaRPr b="0" lang="en-US" sz="1250" spc="-1" strike="noStrike">
              <a:latin typeface="Arial"/>
            </a:endParaRPr>
          </a:p>
        </p:txBody>
      </p:sp>
      <p:sp>
        <p:nvSpPr>
          <p:cNvPr id="149" name="TextBox 196"/>
          <p:cNvSpPr/>
          <p:nvPr/>
        </p:nvSpPr>
        <p:spPr>
          <a:xfrm>
            <a:off x="8119800" y="261504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Data value — check math before it runs</a:t>
            </a:r>
            <a:endParaRPr b="0" lang="en-US" sz="1300" spc="-1" strike="noStrike">
              <a:latin typeface="Arial"/>
            </a:endParaRPr>
          </a:p>
        </p:txBody>
      </p:sp>
      <p:sp>
        <p:nvSpPr>
          <p:cNvPr id="150" name="TextBox 197"/>
          <p:cNvSpPr/>
          <p:nvPr/>
        </p:nvSpPr>
        <p:spPr>
          <a:xfrm>
            <a:off x="6245280" y="339228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8</a:t>
            </a:r>
            <a:endParaRPr b="0" lang="en-US" sz="1600" spc="-1" strike="noStrike">
              <a:latin typeface="Arial"/>
            </a:endParaRPr>
          </a:p>
        </p:txBody>
      </p:sp>
      <p:sp>
        <p:nvSpPr>
          <p:cNvPr id="151" name="TextBox 198"/>
          <p:cNvSpPr/>
          <p:nvPr/>
        </p:nvSpPr>
        <p:spPr>
          <a:xfrm>
            <a:off x="6638400" y="339228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256f6f"/>
                </a:solidFill>
                <a:latin typeface="Aptos"/>
                <a:ea typeface="Arial"/>
              </a:rPr>
              <a:t>STD-001-CPP  |  L3</a:t>
            </a:r>
            <a:endParaRPr b="0" lang="en-US" sz="1250" spc="-1" strike="noStrike">
              <a:latin typeface="Arial"/>
            </a:endParaRPr>
          </a:p>
        </p:txBody>
      </p:sp>
      <p:sp>
        <p:nvSpPr>
          <p:cNvPr id="152" name="TextBox 199"/>
          <p:cNvSpPr/>
          <p:nvPr/>
        </p:nvSpPr>
        <p:spPr>
          <a:xfrm>
            <a:off x="8119800" y="337428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Data type — use safe data types</a:t>
            </a:r>
            <a:endParaRPr b="0" lang="en-US" sz="1300" spc="-1" strike="noStrike">
              <a:latin typeface="Arial"/>
            </a:endParaRPr>
          </a:p>
        </p:txBody>
      </p:sp>
      <p:sp>
        <p:nvSpPr>
          <p:cNvPr id="153" name="TextBox 200"/>
          <p:cNvSpPr/>
          <p:nvPr/>
        </p:nvSpPr>
        <p:spPr>
          <a:xfrm>
            <a:off x="6245280" y="415152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9</a:t>
            </a:r>
            <a:endParaRPr b="0" lang="en-US" sz="1600" spc="-1" strike="noStrike">
              <a:latin typeface="Arial"/>
            </a:endParaRPr>
          </a:p>
        </p:txBody>
      </p:sp>
      <p:sp>
        <p:nvSpPr>
          <p:cNvPr id="154" name="TextBox 201"/>
          <p:cNvSpPr/>
          <p:nvPr/>
        </p:nvSpPr>
        <p:spPr>
          <a:xfrm>
            <a:off x="6638400" y="415152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256f6f"/>
                </a:solidFill>
                <a:latin typeface="Aptos"/>
                <a:ea typeface="Arial"/>
              </a:rPr>
              <a:t>STD-006-CPP  |  L3</a:t>
            </a:r>
            <a:endParaRPr b="0" lang="en-US" sz="1250" spc="-1" strike="noStrike">
              <a:latin typeface="Arial"/>
            </a:endParaRPr>
          </a:p>
        </p:txBody>
      </p:sp>
      <p:sp>
        <p:nvSpPr>
          <p:cNvPr id="155" name="TextBox 202"/>
          <p:cNvSpPr/>
          <p:nvPr/>
        </p:nvSpPr>
        <p:spPr>
          <a:xfrm>
            <a:off x="8119800" y="413316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Assertions — use assertions correctly</a:t>
            </a:r>
            <a:endParaRPr b="0" lang="en-US" sz="1300" spc="-1" strike="noStrike">
              <a:latin typeface="Arial"/>
            </a:endParaRPr>
          </a:p>
        </p:txBody>
      </p:sp>
      <p:sp>
        <p:nvSpPr>
          <p:cNvPr id="156" name="TextBox 203"/>
          <p:cNvSpPr/>
          <p:nvPr/>
        </p:nvSpPr>
        <p:spPr>
          <a:xfrm>
            <a:off x="6245280" y="4910400"/>
            <a:ext cx="318960" cy="333000"/>
          </a:xfrm>
          <a:prstGeom prst="rect">
            <a:avLst/>
          </a:prstGeom>
          <a:noFill/>
          <a:ln w="0">
            <a:noFill/>
          </a:ln>
        </p:spPr>
        <p:style>
          <a:lnRef idx="0"/>
          <a:fillRef idx="0"/>
          <a:effectRef idx="0"/>
          <a:fontRef idx="minor"/>
        </p:style>
        <p:txBody>
          <a:bodyPr lIns="45720" rIns="45720" tIns="45000" bIns="45000" anchor="t">
            <a:spAutoFit/>
          </a:bodyPr>
          <a:p>
            <a:pPr algn="ctr">
              <a:lnSpc>
                <a:spcPct val="100000"/>
              </a:lnSpc>
            </a:pPr>
            <a:r>
              <a:rPr b="1" lang="en-US" sz="1600" spc="-1" strike="noStrike">
                <a:solidFill>
                  <a:srgbClr val="256f6f"/>
                </a:solidFill>
                <a:latin typeface="Aptos Display"/>
                <a:ea typeface="Arial"/>
              </a:rPr>
              <a:t>10</a:t>
            </a:r>
            <a:endParaRPr b="0" lang="en-US" sz="1600" spc="-1" strike="noStrike">
              <a:latin typeface="Arial"/>
            </a:endParaRPr>
          </a:p>
        </p:txBody>
      </p:sp>
      <p:sp>
        <p:nvSpPr>
          <p:cNvPr id="157" name="TextBox 204"/>
          <p:cNvSpPr/>
          <p:nvPr/>
        </p:nvSpPr>
        <p:spPr>
          <a:xfrm>
            <a:off x="6638400" y="4910400"/>
            <a:ext cx="1599120" cy="4705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250" spc="-1" strike="noStrike">
                <a:solidFill>
                  <a:srgbClr val="64756b"/>
                </a:solidFill>
                <a:latin typeface="Aptos"/>
                <a:ea typeface="Arial"/>
              </a:rPr>
              <a:t>STD-007-CPP  |  L2</a:t>
            </a:r>
            <a:endParaRPr b="0" lang="en-US" sz="1250" spc="-1" strike="noStrike">
              <a:latin typeface="Arial"/>
            </a:endParaRPr>
          </a:p>
        </p:txBody>
      </p:sp>
      <p:sp>
        <p:nvSpPr>
          <p:cNvPr id="158" name="TextBox 205"/>
          <p:cNvSpPr/>
          <p:nvPr/>
        </p:nvSpPr>
        <p:spPr>
          <a:xfrm>
            <a:off x="8119800" y="4892040"/>
            <a:ext cx="3427920" cy="2876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300" spc="-1" strike="noStrike">
                <a:solidFill>
                  <a:srgbClr val="252f2a"/>
                </a:solidFill>
                <a:latin typeface="Aptos"/>
                <a:ea typeface="Arial"/>
              </a:rPr>
              <a:t>Exceptions — catch by reference</a:t>
            </a:r>
            <a:endParaRPr b="0" lang="en-US" sz="1300" spc="-1" strike="noStrike">
              <a:latin typeface="Arial"/>
            </a:endParaRPr>
          </a:p>
        </p:txBody>
      </p:sp>
      <p:sp>
        <p:nvSpPr>
          <p:cNvPr id="159" name="TextBox 206"/>
          <p:cNvSpPr/>
          <p:nvPr/>
        </p:nvSpPr>
        <p:spPr>
          <a:xfrm>
            <a:off x="749880" y="5833800"/>
            <a:ext cx="10423080" cy="2494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050" spc="-1" strike="noStrike">
                <a:solidFill>
                  <a:srgbClr val="64756b"/>
                </a:solidFill>
                <a:latin typeface="Aptos"/>
                <a:ea typeface="Arial"/>
              </a:rPr>
              <a:t>I ranked the standards by threat level first. SQL injection is first because it is the only Level 5 rule.</a:t>
            </a:r>
            <a:endParaRPr b="0" lang="en-US" sz="1050" spc="-1" strike="noStrike">
              <a:latin typeface="Arial"/>
            </a:endParaRPr>
          </a:p>
        </p:txBody>
      </p:sp>
      <p:sp>
        <p:nvSpPr>
          <p:cNvPr id="160" name="Rectangle 138"/>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1" name="Rectangle 139"/>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 name="Rectangle 140"/>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 name="TextBox 141"/>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64" name="TextBox 142"/>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5</a:t>
            </a:r>
            <a:endParaRPr b="0" lang="en-US" sz="900" spc="-1" strike="noStrike">
              <a:latin typeface="Arial"/>
            </a:endParaRPr>
          </a:p>
        </p:txBody>
      </p:sp>
      <p:pic>
        <p:nvPicPr>
          <p:cNvPr id="165" name="Picture 143"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ENCRYPTION POLICIES</a:t>
            </a:r>
            <a:endParaRPr b="0" lang="en-US" sz="2700" spc="-1" strike="noStrike">
              <a:latin typeface="Arial"/>
            </a:endParaRPr>
          </a:p>
        </p:txBody>
      </p:sp>
      <p:sp>
        <p:nvSpPr>
          <p:cNvPr id="167" name="Rounded Rectangle 183"/>
          <p:cNvSpPr/>
          <p:nvPr/>
        </p:nvSpPr>
        <p:spPr>
          <a:xfrm>
            <a:off x="731520" y="2011680"/>
            <a:ext cx="342792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200" spc="-1" strike="noStrike">
                <a:solidFill>
                  <a:srgbClr val="377c49"/>
                </a:solidFill>
                <a:latin typeface="Aptos"/>
                <a:ea typeface="Arial"/>
              </a:rPr>
              <a:t>At rest</a:t>
            </a:r>
            <a:endParaRPr b="0" lang="en-US" sz="2200" spc="-1" strike="noStrike">
              <a:latin typeface="Arial"/>
            </a:endParaRPr>
          </a:p>
          <a:p>
            <a:pPr>
              <a:lnSpc>
                <a:spcPct val="100000"/>
              </a:lnSpc>
            </a:pPr>
            <a:r>
              <a:rPr b="0" lang="en-US" sz="1600" spc="-1" strike="noStrike">
                <a:solidFill>
                  <a:srgbClr val="252f2a"/>
                </a:solidFill>
                <a:latin typeface="Aptos"/>
                <a:ea typeface="Arial"/>
              </a:rPr>
              <a:t>Encrypt sensitive data saved in files, databases, backups, and devices. Store the keys away from the data.</a:t>
            </a:r>
            <a:endParaRPr b="0" lang="en-US" sz="1600" spc="-1" strike="noStrike">
              <a:latin typeface="Arial"/>
            </a:endParaRPr>
          </a:p>
        </p:txBody>
      </p:sp>
      <p:sp>
        <p:nvSpPr>
          <p:cNvPr id="168" name="Rounded Rectangle 184"/>
          <p:cNvSpPr/>
          <p:nvPr/>
        </p:nvSpPr>
        <p:spPr>
          <a:xfrm>
            <a:off x="4389120" y="2011680"/>
            <a:ext cx="342792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200" spc="-1" strike="noStrike">
                <a:solidFill>
                  <a:srgbClr val="377c49"/>
                </a:solidFill>
                <a:latin typeface="Aptos"/>
                <a:ea typeface="Arial"/>
              </a:rPr>
              <a:t>In flight</a:t>
            </a:r>
            <a:endParaRPr b="0" lang="en-US" sz="2200" spc="-1" strike="noStrike">
              <a:latin typeface="Arial"/>
            </a:endParaRPr>
          </a:p>
          <a:p>
            <a:pPr>
              <a:lnSpc>
                <a:spcPct val="100000"/>
              </a:lnSpc>
            </a:pPr>
            <a:r>
              <a:rPr b="0" lang="en-US" sz="1600" spc="-1" strike="noStrike">
                <a:solidFill>
                  <a:srgbClr val="252f2a"/>
                </a:solidFill>
                <a:latin typeface="Aptos"/>
                <a:ea typeface="Arial"/>
              </a:rPr>
              <a:t>Use TLS or another approved encrypted connection. Do not send sensitive data with plain HTTP.</a:t>
            </a:r>
            <a:endParaRPr b="0" lang="en-US" sz="1600" spc="-1" strike="noStrike">
              <a:latin typeface="Arial"/>
            </a:endParaRPr>
          </a:p>
        </p:txBody>
      </p:sp>
      <p:sp>
        <p:nvSpPr>
          <p:cNvPr id="169" name="Rounded Rectangle 185"/>
          <p:cNvSpPr/>
          <p:nvPr/>
        </p:nvSpPr>
        <p:spPr>
          <a:xfrm>
            <a:off x="8046720" y="2011680"/>
            <a:ext cx="306216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200" spc="-1" strike="noStrike">
                <a:solidFill>
                  <a:srgbClr val="377c49"/>
                </a:solidFill>
                <a:latin typeface="Aptos"/>
                <a:ea typeface="Arial"/>
              </a:rPr>
              <a:t>In use</a:t>
            </a:r>
            <a:endParaRPr b="0" lang="en-US" sz="2200" spc="-1" strike="noStrike">
              <a:latin typeface="Arial"/>
            </a:endParaRPr>
          </a:p>
          <a:p>
            <a:pPr>
              <a:lnSpc>
                <a:spcPct val="100000"/>
              </a:lnSpc>
            </a:pPr>
            <a:r>
              <a:rPr b="0" lang="en-US" sz="1600" spc="-1" strike="noStrike">
                <a:solidFill>
                  <a:srgbClr val="252f2a"/>
                </a:solidFill>
                <a:latin typeface="Aptos"/>
                <a:ea typeface="Arial"/>
              </a:rPr>
              <a:t>Only let approved users or programs read sensitive data in memory. Clear secrets when they are not needed.</a:t>
            </a:r>
            <a:endParaRPr b="0" lang="en-US" sz="1600" spc="-1" strike="noStrike">
              <a:latin typeface="Arial"/>
            </a:endParaRPr>
          </a:p>
        </p:txBody>
      </p:sp>
      <p:sp>
        <p:nvSpPr>
          <p:cNvPr id="170" name="TextBox 186"/>
          <p:cNvSpPr/>
          <p:nvPr/>
        </p:nvSpPr>
        <p:spPr>
          <a:xfrm>
            <a:off x="777240" y="5486400"/>
            <a:ext cx="10148760" cy="2494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050" spc="-1" strike="noStrike">
                <a:solidFill>
                  <a:srgbClr val="64756b"/>
                </a:solidFill>
                <a:latin typeface="Aptos"/>
                <a:ea typeface="Arial"/>
              </a:rPr>
              <a:t>Only approved users or services should have access to keys and secrets.</a:t>
            </a:r>
            <a:endParaRPr b="0" lang="en-US" sz="1050" spc="-1" strike="noStrike">
              <a:latin typeface="Arial"/>
            </a:endParaRPr>
          </a:p>
        </p:txBody>
      </p:sp>
      <p:sp>
        <p:nvSpPr>
          <p:cNvPr id="171" name="Rectangle 145"/>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2" name="Rectangle 146"/>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3" name="Rectangle 147"/>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4" name="TextBox 148"/>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75" name="TextBox 149"/>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6</a:t>
            </a:r>
            <a:endParaRPr b="0" lang="en-US" sz="900" spc="-1" strike="noStrike">
              <a:latin typeface="Arial"/>
            </a:endParaRPr>
          </a:p>
        </p:txBody>
      </p:sp>
      <p:pic>
        <p:nvPicPr>
          <p:cNvPr id="176" name="Picture 150"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77"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TRIPLE-A POLICIES</a:t>
            </a:r>
            <a:endParaRPr b="0" lang="en-US" sz="2700" spc="-1" strike="noStrike">
              <a:latin typeface="Arial"/>
            </a:endParaRPr>
          </a:p>
        </p:txBody>
      </p:sp>
      <p:sp>
        <p:nvSpPr>
          <p:cNvPr id="178" name="Rounded Rectangle 190"/>
          <p:cNvSpPr/>
          <p:nvPr/>
        </p:nvSpPr>
        <p:spPr>
          <a:xfrm>
            <a:off x="731520" y="2011680"/>
            <a:ext cx="342792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100" spc="-1" strike="noStrike">
                <a:solidFill>
                  <a:srgbClr val="377c49"/>
                </a:solidFill>
                <a:latin typeface="Aptos"/>
                <a:ea typeface="Arial"/>
              </a:rPr>
              <a:t>Authentication</a:t>
            </a:r>
            <a:endParaRPr b="0" lang="en-US" sz="2100" spc="-1" strike="noStrike">
              <a:latin typeface="Arial"/>
            </a:endParaRPr>
          </a:p>
          <a:p>
            <a:pPr>
              <a:lnSpc>
                <a:spcPct val="100000"/>
              </a:lnSpc>
            </a:pPr>
            <a:r>
              <a:rPr b="0" lang="en-US" sz="1560" spc="-1" strike="noStrike">
                <a:solidFill>
                  <a:srgbClr val="252f2a"/>
                </a:solidFill>
                <a:latin typeface="Aptos"/>
                <a:ea typeface="Arial"/>
              </a:rPr>
              <a:t>Check who the user or service is. Use separate accounts, strong passwords, and MFA when needed.</a:t>
            </a:r>
            <a:endParaRPr b="0" lang="en-US" sz="1560" spc="-1" strike="noStrike">
              <a:latin typeface="Arial"/>
            </a:endParaRPr>
          </a:p>
        </p:txBody>
      </p:sp>
      <p:sp>
        <p:nvSpPr>
          <p:cNvPr id="179" name="Rounded Rectangle 191"/>
          <p:cNvSpPr/>
          <p:nvPr/>
        </p:nvSpPr>
        <p:spPr>
          <a:xfrm>
            <a:off x="4389120" y="2011680"/>
            <a:ext cx="342792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100" spc="-1" strike="noStrike">
                <a:solidFill>
                  <a:srgbClr val="377c49"/>
                </a:solidFill>
                <a:latin typeface="Aptos"/>
                <a:ea typeface="Arial"/>
              </a:rPr>
              <a:t>Authorization</a:t>
            </a:r>
            <a:endParaRPr b="0" lang="en-US" sz="2100" spc="-1" strike="noStrike">
              <a:latin typeface="Arial"/>
            </a:endParaRPr>
          </a:p>
          <a:p>
            <a:pPr>
              <a:lnSpc>
                <a:spcPct val="100000"/>
              </a:lnSpc>
            </a:pPr>
            <a:r>
              <a:rPr b="0" lang="en-US" sz="1560" spc="-1" strike="noStrike">
                <a:solidFill>
                  <a:srgbClr val="252f2a"/>
                </a:solidFill>
                <a:latin typeface="Aptos"/>
                <a:ea typeface="Arial"/>
              </a:rPr>
              <a:t>After login, only give the access needed for the job. Log changes to roles, files, and database access.</a:t>
            </a:r>
            <a:endParaRPr b="0" lang="en-US" sz="1560" spc="-1" strike="noStrike">
              <a:latin typeface="Arial"/>
            </a:endParaRPr>
          </a:p>
        </p:txBody>
      </p:sp>
      <p:sp>
        <p:nvSpPr>
          <p:cNvPr id="180" name="Rounded Rectangle 192"/>
          <p:cNvSpPr/>
          <p:nvPr/>
        </p:nvSpPr>
        <p:spPr>
          <a:xfrm>
            <a:off x="8046720" y="2011680"/>
            <a:ext cx="3062160" cy="319932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100" spc="-1" strike="noStrike">
                <a:solidFill>
                  <a:srgbClr val="377c49"/>
                </a:solidFill>
                <a:latin typeface="Aptos"/>
                <a:ea typeface="Arial"/>
              </a:rPr>
              <a:t>Accounting</a:t>
            </a:r>
            <a:endParaRPr b="0" lang="en-US" sz="2100" spc="-1" strike="noStrike">
              <a:latin typeface="Arial"/>
            </a:endParaRPr>
          </a:p>
          <a:p>
            <a:pPr>
              <a:lnSpc>
                <a:spcPct val="100000"/>
              </a:lnSpc>
            </a:pPr>
            <a:r>
              <a:rPr b="0" lang="en-US" sz="1530" spc="-1" strike="noStrike">
                <a:solidFill>
                  <a:srgbClr val="252f2a"/>
                </a:solidFill>
                <a:latin typeface="Aptos"/>
                <a:ea typeface="Arial"/>
              </a:rPr>
              <a:t>Keep logs for logins, new users, access changes, database changes, and sensitive file access.</a:t>
            </a:r>
            <a:endParaRPr b="0" lang="en-US" sz="1530" spc="-1" strike="noStrike">
              <a:latin typeface="Arial"/>
            </a:endParaRPr>
          </a:p>
        </p:txBody>
      </p:sp>
      <p:sp>
        <p:nvSpPr>
          <p:cNvPr id="181" name="TextBox 193"/>
          <p:cNvSpPr/>
          <p:nvPr/>
        </p:nvSpPr>
        <p:spPr>
          <a:xfrm>
            <a:off x="777240" y="5504760"/>
            <a:ext cx="10057320" cy="2494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050" spc="-1" strike="noStrike">
                <a:solidFill>
                  <a:srgbClr val="64756b"/>
                </a:solidFill>
                <a:latin typeface="Aptos"/>
                <a:ea typeface="Arial"/>
              </a:rPr>
              <a:t>Do not put passwords or secret keys in logs.</a:t>
            </a:r>
            <a:endParaRPr b="0" lang="en-US" sz="1050" spc="-1" strike="noStrike">
              <a:latin typeface="Arial"/>
            </a:endParaRPr>
          </a:p>
        </p:txBody>
      </p:sp>
      <p:sp>
        <p:nvSpPr>
          <p:cNvPr id="182" name="Rectangle 152"/>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3" name="Rectangle 153"/>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4" name="Rectangle 154"/>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5" name="TextBox 155"/>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186" name="TextBox 156"/>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7</a:t>
            </a:r>
            <a:endParaRPr b="0" lang="en-US" sz="900" spc="-1" strike="noStrike">
              <a:latin typeface="Arial"/>
            </a:endParaRPr>
          </a:p>
        </p:txBody>
      </p:sp>
      <p:pic>
        <p:nvPicPr>
          <p:cNvPr id="187" name="Picture 157"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188" name="PlaceHolder 1"/>
          <p:cNvSpPr>
            <a:spLocks noGrp="1"/>
          </p:cNvSpPr>
          <p:nvPr>
            <p:ph type="title"/>
          </p:nvPr>
        </p:nvSpPr>
        <p:spPr>
          <a:xfrm>
            <a:off x="621720" y="347400"/>
            <a:ext cx="10698120" cy="658080"/>
          </a:xfrm>
          <a:prstGeom prst="rect">
            <a:avLst/>
          </a:prstGeom>
          <a:noFill/>
          <a:ln w="0">
            <a:noFill/>
          </a:ln>
        </p:spPr>
        <p:txBody>
          <a:bodyPr lIns="0" rIns="0" tIns="0" bIns="0" anchor="ctr">
            <a:noAutofit/>
          </a:bodyPr>
          <a:p>
            <a:pPr indent="0">
              <a:lnSpc>
                <a:spcPct val="90000"/>
              </a:lnSpc>
              <a:buNone/>
              <a:tabLst>
                <a:tab algn="l" pos="0"/>
              </a:tabLst>
            </a:pPr>
            <a:r>
              <a:rPr b="1" lang="en-US" sz="2500" spc="-1" strike="noStrike">
                <a:solidFill>
                  <a:srgbClr val="377c49"/>
                </a:solidFill>
                <a:latin typeface="Aptos"/>
                <a:ea typeface="Century Gothic"/>
              </a:rPr>
              <a:t>Does a valid index return the right value?</a:t>
            </a:r>
            <a:endParaRPr b="0" lang="en-US" sz="2500" spc="-1" strike="noStrike">
              <a:latin typeface="Arial"/>
            </a:endParaRPr>
          </a:p>
        </p:txBody>
      </p:sp>
      <p:sp>
        <p:nvSpPr>
          <p:cNvPr id="189" name="TextBox 197"/>
          <p:cNvSpPr/>
          <p:nvPr/>
        </p:nvSpPr>
        <p:spPr>
          <a:xfrm>
            <a:off x="749880" y="1627560"/>
            <a:ext cx="6399720" cy="2570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100" spc="-1" strike="noStrike">
                <a:solidFill>
                  <a:srgbClr val="377c49"/>
                </a:solidFill>
                <a:latin typeface="Aptos"/>
                <a:ea typeface="Arial"/>
              </a:rPr>
              <a:t>STD-010-CPP • Bounds Checking • GoogleTest</a:t>
            </a:r>
            <a:endParaRPr b="0" lang="en-US" sz="1100" spc="-1" strike="noStrike">
              <a:latin typeface="Arial"/>
            </a:endParaRPr>
          </a:p>
        </p:txBody>
      </p:sp>
      <p:sp>
        <p:nvSpPr>
          <p:cNvPr id="190" name="Rounded Rectangle 198"/>
          <p:cNvSpPr/>
          <p:nvPr/>
        </p:nvSpPr>
        <p:spPr>
          <a:xfrm>
            <a:off x="731520" y="2030040"/>
            <a:ext cx="6125400" cy="3290760"/>
          </a:xfrm>
          <a:prstGeom prst="roundRect">
            <a:avLst>
              <a:gd name="adj" fmla="val 16667"/>
            </a:avLst>
          </a:prstGeom>
          <a:solidFill>
            <a:srgbClr val="16221d"/>
          </a:solidFill>
          <a:ln w="13970">
            <a:solidFill>
              <a:srgbClr val="377c4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109800" anchor="ctr">
            <a:noAutofit/>
          </a:bodyPr>
          <a:p>
            <a:pPr algn="ctr">
              <a:lnSpc>
                <a:spcPct val="92000"/>
              </a:lnSpc>
            </a:pPr>
            <a:r>
              <a:rPr b="0" lang="en-US" sz="1250" spc="-1" strike="noStrike">
                <a:solidFill>
                  <a:srgbClr val="ffffff"/>
                </a:solidFill>
                <a:latin typeface="Consolas"/>
                <a:ea typeface="Arial"/>
              </a:rPr>
              <a:t>TEST(BoundsTest, ValidIndex) {</a:t>
            </a:r>
            <a:br>
              <a:rPr sz="1520"/>
            </a:br>
            <a:r>
              <a:rPr b="0" lang="en-US" sz="1250" spc="-1" strike="noStrike">
                <a:solidFill>
                  <a:srgbClr val="ffffff"/>
                </a:solidFill>
                <a:latin typeface="Consolas"/>
                <a:ea typeface="Arial"/>
              </a:rPr>
              <a:t>  std::vector&lt;int&gt; v{10, 20, 30};</a:t>
            </a:r>
            <a:br>
              <a:rPr sz="1520"/>
            </a:br>
            <a:r>
              <a:rPr b="0" lang="en-US" sz="1250" spc="-1" strike="noStrike">
                <a:solidFill>
                  <a:srgbClr val="ffffff"/>
                </a:solidFill>
                <a:latin typeface="Consolas"/>
                <a:ea typeface="Arial"/>
              </a:rPr>
              <a:t>  EXPECT_EQ(v.at(1), 20);</a:t>
            </a:r>
            <a:br>
              <a:rPr sz="1520"/>
            </a:br>
            <a:r>
              <a:rPr b="0" lang="en-US" sz="1250" spc="-1" strike="noStrike">
                <a:solidFill>
                  <a:srgbClr val="ffffff"/>
                </a:solidFill>
                <a:latin typeface="Consolas"/>
                <a:ea typeface="Arial"/>
              </a:rPr>
              <a:t>}</a:t>
            </a:r>
            <a:endParaRPr b="0" lang="en-US" sz="1250" spc="-1" strike="noStrike">
              <a:latin typeface="Arial"/>
            </a:endParaRPr>
          </a:p>
        </p:txBody>
      </p:sp>
      <p:sp>
        <p:nvSpPr>
          <p:cNvPr id="191" name="Rounded Rectangle 199"/>
          <p:cNvSpPr/>
          <p:nvPr/>
        </p:nvSpPr>
        <p:spPr>
          <a:xfrm>
            <a:off x="7113960" y="203004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Test type</a:t>
            </a:r>
            <a:endParaRPr b="0" lang="en-US" sz="1050" spc="-1" strike="noStrike">
              <a:latin typeface="Arial"/>
            </a:endParaRPr>
          </a:p>
          <a:p>
            <a:pPr>
              <a:lnSpc>
                <a:spcPct val="100000"/>
              </a:lnSpc>
            </a:pPr>
            <a:r>
              <a:rPr b="0" lang="en-US" sz="1050" spc="-1" strike="noStrike">
                <a:solidFill>
                  <a:srgbClr val="252f2a"/>
                </a:solidFill>
                <a:latin typeface="Aptos"/>
                <a:ea typeface="Arial"/>
              </a:rPr>
              <a:t>Positive test</a:t>
            </a:r>
            <a:endParaRPr b="0" lang="en-US" sz="1050" spc="-1" strike="noStrike">
              <a:latin typeface="Arial"/>
            </a:endParaRPr>
          </a:p>
        </p:txBody>
      </p:sp>
      <p:sp>
        <p:nvSpPr>
          <p:cNvPr id="192" name="Rounded Rectangle 200"/>
          <p:cNvSpPr/>
          <p:nvPr/>
        </p:nvSpPr>
        <p:spPr>
          <a:xfrm>
            <a:off x="7113960" y="287136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Result</a:t>
            </a:r>
            <a:endParaRPr b="0" lang="en-US" sz="1050" spc="-1" strike="noStrike">
              <a:latin typeface="Arial"/>
            </a:endParaRPr>
          </a:p>
          <a:p>
            <a:pPr>
              <a:lnSpc>
                <a:spcPct val="100000"/>
              </a:lnSpc>
            </a:pPr>
            <a:r>
              <a:rPr b="0" lang="en-US" sz="1050" spc="-1" strike="noStrike">
                <a:solidFill>
                  <a:srgbClr val="252f2a"/>
                </a:solidFill>
                <a:latin typeface="Aptos"/>
                <a:ea typeface="Arial"/>
              </a:rPr>
              <a:t>Expected: PASS</a:t>
            </a:r>
            <a:endParaRPr b="0" lang="en-US" sz="1050" spc="-1" strike="noStrike">
              <a:latin typeface="Arial"/>
            </a:endParaRPr>
          </a:p>
        </p:txBody>
      </p:sp>
      <p:sp>
        <p:nvSpPr>
          <p:cNvPr id="193" name="Rounded Rectangle 201"/>
          <p:cNvSpPr/>
          <p:nvPr/>
        </p:nvSpPr>
        <p:spPr>
          <a:xfrm>
            <a:off x="7113960" y="3712320"/>
            <a:ext cx="3885120" cy="9590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Why it matters</a:t>
            </a:r>
            <a:endParaRPr b="0" lang="en-US" sz="1050" spc="-1" strike="noStrike">
              <a:latin typeface="Arial"/>
            </a:endParaRPr>
          </a:p>
          <a:p>
            <a:pPr>
              <a:lnSpc>
                <a:spcPct val="100000"/>
              </a:lnSpc>
            </a:pPr>
            <a:r>
              <a:rPr b="0" lang="en-US" sz="1050" spc="-1" strike="noStrike">
                <a:solidFill>
                  <a:srgbClr val="252f2a"/>
                </a:solidFill>
                <a:latin typeface="Aptos"/>
                <a:ea typeface="Arial"/>
              </a:rPr>
              <a:t>A safe index should still work.</a:t>
            </a:r>
            <a:endParaRPr b="0" lang="en-US" sz="1050" spc="-1" strike="noStrike">
              <a:latin typeface="Arial"/>
            </a:endParaRPr>
          </a:p>
        </p:txBody>
      </p:sp>
      <p:sp>
        <p:nvSpPr>
          <p:cNvPr id="194" name="Rounded Rectangle 202"/>
          <p:cNvSpPr/>
          <p:nvPr/>
        </p:nvSpPr>
        <p:spPr>
          <a:xfrm>
            <a:off x="7113960" y="4791600"/>
            <a:ext cx="3885120" cy="757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Take it further</a:t>
            </a:r>
            <a:endParaRPr b="0" lang="en-US" sz="1050" spc="-1" strike="noStrike">
              <a:latin typeface="Arial"/>
            </a:endParaRPr>
          </a:p>
          <a:p>
            <a:pPr>
              <a:lnSpc>
                <a:spcPct val="100000"/>
              </a:lnSpc>
            </a:pPr>
            <a:r>
              <a:rPr b="0" lang="en-US" sz="1050" spc="-1" strike="noStrike">
                <a:solidFill>
                  <a:srgbClr val="252f2a"/>
                </a:solidFill>
                <a:latin typeface="Aptos"/>
                <a:ea typeface="Arial"/>
              </a:rPr>
              <a:t>Test a few more normal indexes.</a:t>
            </a:r>
            <a:endParaRPr b="0" lang="en-US" sz="1050" spc="-1" strike="noStrike">
              <a:latin typeface="Arial"/>
            </a:endParaRPr>
          </a:p>
        </p:txBody>
      </p:sp>
      <p:sp>
        <p:nvSpPr>
          <p:cNvPr id="195" name="TextBox 203"/>
          <p:cNvSpPr/>
          <p:nvPr/>
        </p:nvSpPr>
        <p:spPr>
          <a:xfrm>
            <a:off x="768240" y="5623560"/>
            <a:ext cx="1024020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Run this test in Visual Studio Test Explorer and take a screenshot of the result.</a:t>
            </a:r>
            <a:endParaRPr b="0" lang="en-US" sz="950" spc="-1" strike="noStrike">
              <a:latin typeface="Arial"/>
            </a:endParaRPr>
          </a:p>
        </p:txBody>
      </p:sp>
      <p:sp>
        <p:nvSpPr>
          <p:cNvPr id="196" name="Rectangle 162"/>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7" name="Rectangle 163"/>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8" name="Rectangle 164"/>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9" name="TextBox 165"/>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00" name="TextBox 166"/>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8</a:t>
            </a:r>
            <a:endParaRPr b="0" lang="en-US" sz="900" spc="-1" strike="noStrike">
              <a:latin typeface="Arial"/>
            </a:endParaRPr>
          </a:p>
        </p:txBody>
      </p:sp>
      <p:pic>
        <p:nvPicPr>
          <p:cNvPr id="201" name="Picture 167"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621720" y="347400"/>
            <a:ext cx="10698120" cy="658080"/>
          </a:xfrm>
          <a:prstGeom prst="rect">
            <a:avLst/>
          </a:prstGeom>
          <a:noFill/>
          <a:ln w="0">
            <a:noFill/>
          </a:ln>
        </p:spPr>
        <p:txBody>
          <a:bodyPr lIns="0" rIns="0" tIns="0" bIns="0" anchor="ctr">
            <a:noAutofit/>
          </a:bodyPr>
          <a:p>
            <a:pPr indent="0">
              <a:lnSpc>
                <a:spcPct val="90000"/>
              </a:lnSpc>
              <a:buNone/>
              <a:tabLst>
                <a:tab algn="l" pos="0"/>
              </a:tabLst>
            </a:pPr>
            <a:r>
              <a:rPr b="1" lang="en-US" sz="2500" spc="-1" strike="noStrike">
                <a:solidFill>
                  <a:srgbClr val="377c49"/>
                </a:solidFill>
                <a:latin typeface="Aptos"/>
                <a:ea typeface="Century Gothic"/>
              </a:rPr>
              <a:t>Does the last valid index still work?</a:t>
            </a:r>
            <a:endParaRPr b="0" lang="en-US" sz="2500" spc="-1" strike="noStrike">
              <a:latin typeface="Arial"/>
            </a:endParaRPr>
          </a:p>
        </p:txBody>
      </p:sp>
      <p:sp>
        <p:nvSpPr>
          <p:cNvPr id="203" name="TextBox 3"/>
          <p:cNvSpPr/>
          <p:nvPr/>
        </p:nvSpPr>
        <p:spPr>
          <a:xfrm>
            <a:off x="749880" y="1627560"/>
            <a:ext cx="6399720" cy="2570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100" spc="-1" strike="noStrike">
                <a:solidFill>
                  <a:srgbClr val="377c49"/>
                </a:solidFill>
                <a:latin typeface="Aptos"/>
                <a:ea typeface="Arial"/>
              </a:rPr>
              <a:t>STD-010-CPP • Bounds Checking • GoogleTest</a:t>
            </a:r>
            <a:endParaRPr b="0" lang="en-US" sz="1100" spc="-1" strike="noStrike">
              <a:latin typeface="Arial"/>
            </a:endParaRPr>
          </a:p>
        </p:txBody>
      </p:sp>
      <p:sp>
        <p:nvSpPr>
          <p:cNvPr id="204" name="Rounded Rectangle 4"/>
          <p:cNvSpPr/>
          <p:nvPr/>
        </p:nvSpPr>
        <p:spPr>
          <a:xfrm>
            <a:off x="731520" y="2030040"/>
            <a:ext cx="6125400" cy="3290760"/>
          </a:xfrm>
          <a:prstGeom prst="roundRect">
            <a:avLst>
              <a:gd name="adj" fmla="val 16667"/>
            </a:avLst>
          </a:prstGeom>
          <a:solidFill>
            <a:srgbClr val="16221d"/>
          </a:solidFill>
          <a:ln w="13970">
            <a:solidFill>
              <a:srgbClr val="377c4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109800" anchor="ctr">
            <a:noAutofit/>
          </a:bodyPr>
          <a:p>
            <a:pPr algn="ctr">
              <a:lnSpc>
                <a:spcPct val="92000"/>
              </a:lnSpc>
            </a:pPr>
            <a:r>
              <a:rPr b="0" lang="en-US" sz="1250" spc="-1" strike="noStrike">
                <a:solidFill>
                  <a:srgbClr val="ffffff"/>
                </a:solidFill>
                <a:latin typeface="Consolas"/>
                <a:ea typeface="Arial"/>
              </a:rPr>
              <a:t>TEST(BoundsTest, LastValidIndex) {</a:t>
            </a:r>
            <a:br>
              <a:rPr sz="1520"/>
            </a:br>
            <a:r>
              <a:rPr b="0" lang="en-US" sz="1250" spc="-1" strike="noStrike">
                <a:solidFill>
                  <a:srgbClr val="ffffff"/>
                </a:solidFill>
                <a:latin typeface="Consolas"/>
                <a:ea typeface="Arial"/>
              </a:rPr>
              <a:t>  std::vector&lt;int&gt; v{10, 20, 30};</a:t>
            </a:r>
            <a:br>
              <a:rPr sz="1520"/>
            </a:br>
            <a:r>
              <a:rPr b="0" lang="en-US" sz="1250" spc="-1" strike="noStrike">
                <a:solidFill>
                  <a:srgbClr val="ffffff"/>
                </a:solidFill>
                <a:latin typeface="Consolas"/>
                <a:ea typeface="Arial"/>
              </a:rPr>
              <a:t>  EXPECT_EQ(v.at(v.size() - 1), 30);</a:t>
            </a:r>
            <a:br>
              <a:rPr sz="1520"/>
            </a:br>
            <a:r>
              <a:rPr b="0" lang="en-US" sz="1250" spc="-1" strike="noStrike">
                <a:solidFill>
                  <a:srgbClr val="ffffff"/>
                </a:solidFill>
                <a:latin typeface="Consolas"/>
                <a:ea typeface="Arial"/>
              </a:rPr>
              <a:t>}</a:t>
            </a:r>
            <a:endParaRPr b="0" lang="en-US" sz="1250" spc="-1" strike="noStrike">
              <a:latin typeface="Arial"/>
            </a:endParaRPr>
          </a:p>
        </p:txBody>
      </p:sp>
      <p:sp>
        <p:nvSpPr>
          <p:cNvPr id="205" name="Rounded Rectangle 5"/>
          <p:cNvSpPr/>
          <p:nvPr/>
        </p:nvSpPr>
        <p:spPr>
          <a:xfrm>
            <a:off x="7113960" y="203004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Test type</a:t>
            </a:r>
            <a:endParaRPr b="0" lang="en-US" sz="1050" spc="-1" strike="noStrike">
              <a:latin typeface="Arial"/>
            </a:endParaRPr>
          </a:p>
          <a:p>
            <a:pPr>
              <a:lnSpc>
                <a:spcPct val="100000"/>
              </a:lnSpc>
            </a:pPr>
            <a:r>
              <a:rPr b="0" lang="en-US" sz="1050" spc="-1" strike="noStrike">
                <a:solidFill>
                  <a:srgbClr val="252f2a"/>
                </a:solidFill>
                <a:latin typeface="Aptos"/>
                <a:ea typeface="Arial"/>
              </a:rPr>
              <a:t>Positive boundary test</a:t>
            </a:r>
            <a:endParaRPr b="0" lang="en-US" sz="1050" spc="-1" strike="noStrike">
              <a:latin typeface="Arial"/>
            </a:endParaRPr>
          </a:p>
        </p:txBody>
      </p:sp>
      <p:sp>
        <p:nvSpPr>
          <p:cNvPr id="206" name="Rounded Rectangle 6"/>
          <p:cNvSpPr/>
          <p:nvPr/>
        </p:nvSpPr>
        <p:spPr>
          <a:xfrm>
            <a:off x="7113960" y="287136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Result</a:t>
            </a:r>
            <a:endParaRPr b="0" lang="en-US" sz="1050" spc="-1" strike="noStrike">
              <a:latin typeface="Arial"/>
            </a:endParaRPr>
          </a:p>
          <a:p>
            <a:pPr>
              <a:lnSpc>
                <a:spcPct val="100000"/>
              </a:lnSpc>
            </a:pPr>
            <a:r>
              <a:rPr b="0" lang="en-US" sz="1050" spc="-1" strike="noStrike">
                <a:solidFill>
                  <a:srgbClr val="252f2a"/>
                </a:solidFill>
                <a:latin typeface="Aptos"/>
                <a:ea typeface="Arial"/>
              </a:rPr>
              <a:t>Expected: PASS</a:t>
            </a:r>
            <a:endParaRPr b="0" lang="en-US" sz="1050" spc="-1" strike="noStrike">
              <a:latin typeface="Arial"/>
            </a:endParaRPr>
          </a:p>
        </p:txBody>
      </p:sp>
      <p:sp>
        <p:nvSpPr>
          <p:cNvPr id="207" name="Rounded Rectangle 7"/>
          <p:cNvSpPr/>
          <p:nvPr/>
        </p:nvSpPr>
        <p:spPr>
          <a:xfrm>
            <a:off x="7113960" y="3712320"/>
            <a:ext cx="3885120" cy="9590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Why it matters</a:t>
            </a:r>
            <a:endParaRPr b="0" lang="en-US" sz="1050" spc="-1" strike="noStrike">
              <a:latin typeface="Arial"/>
            </a:endParaRPr>
          </a:p>
          <a:p>
            <a:pPr>
              <a:lnSpc>
                <a:spcPct val="100000"/>
              </a:lnSpc>
            </a:pPr>
            <a:r>
              <a:rPr b="0" lang="en-US" sz="1050" spc="-1" strike="noStrike">
                <a:solidFill>
                  <a:srgbClr val="252f2a"/>
                </a:solidFill>
                <a:latin typeface="Aptos"/>
                <a:ea typeface="Arial"/>
              </a:rPr>
              <a:t>The last item is where off-by-one mistakes often happen.</a:t>
            </a:r>
            <a:endParaRPr b="0" lang="en-US" sz="1050" spc="-1" strike="noStrike">
              <a:latin typeface="Arial"/>
            </a:endParaRPr>
          </a:p>
        </p:txBody>
      </p:sp>
      <p:sp>
        <p:nvSpPr>
          <p:cNvPr id="208" name="Rounded Rectangle 8"/>
          <p:cNvSpPr/>
          <p:nvPr/>
        </p:nvSpPr>
        <p:spPr>
          <a:xfrm>
            <a:off x="7113960" y="4791600"/>
            <a:ext cx="3885120" cy="757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Take it further</a:t>
            </a:r>
            <a:endParaRPr b="0" lang="en-US" sz="1050" spc="-1" strike="noStrike">
              <a:latin typeface="Arial"/>
            </a:endParaRPr>
          </a:p>
          <a:p>
            <a:pPr>
              <a:lnSpc>
                <a:spcPct val="100000"/>
              </a:lnSpc>
            </a:pPr>
            <a:r>
              <a:rPr b="0" lang="en-US" sz="1050" spc="-1" strike="noStrike">
                <a:solidFill>
                  <a:srgbClr val="252f2a"/>
                </a:solidFill>
                <a:latin typeface="Aptos"/>
                <a:ea typeface="Arial"/>
              </a:rPr>
              <a:t>Also test index 0 and a vector with one item.</a:t>
            </a:r>
            <a:endParaRPr b="0" lang="en-US" sz="1050" spc="-1" strike="noStrike">
              <a:latin typeface="Arial"/>
            </a:endParaRPr>
          </a:p>
        </p:txBody>
      </p:sp>
      <p:sp>
        <p:nvSpPr>
          <p:cNvPr id="209" name="TextBox 9"/>
          <p:cNvSpPr/>
          <p:nvPr/>
        </p:nvSpPr>
        <p:spPr>
          <a:xfrm>
            <a:off x="768240" y="5623560"/>
            <a:ext cx="1024020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Run this test in Visual Studio Test Explorer and take a screenshot of the result.</a:t>
            </a:r>
            <a:endParaRPr b="0" lang="en-US" sz="950" spc="-1" strike="noStrike">
              <a:latin typeface="Arial"/>
            </a:endParaRPr>
          </a:p>
        </p:txBody>
      </p:sp>
      <p:sp>
        <p:nvSpPr>
          <p:cNvPr id="210" name="Rectangle 171"/>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1" name="Rectangle 172"/>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2" name="Rectangle 173"/>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3" name="TextBox 174"/>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14" name="TextBox 175"/>
          <p:cNvSpPr/>
          <p:nvPr/>
        </p:nvSpPr>
        <p:spPr>
          <a:xfrm>
            <a:off x="11110680" y="6537960"/>
            <a:ext cx="25416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9</a:t>
            </a:r>
            <a:endParaRPr b="0" lang="en-US" sz="900" spc="-1" strike="noStrike">
              <a:latin typeface="Arial"/>
            </a:endParaRPr>
          </a:p>
        </p:txBody>
      </p:sp>
      <p:pic>
        <p:nvPicPr>
          <p:cNvPr id="215" name="Picture 176"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16" name="PlaceHolder 1"/>
          <p:cNvSpPr>
            <a:spLocks noGrp="1"/>
          </p:cNvSpPr>
          <p:nvPr>
            <p:ph type="title"/>
          </p:nvPr>
        </p:nvSpPr>
        <p:spPr>
          <a:xfrm>
            <a:off x="621720" y="347400"/>
            <a:ext cx="10698120" cy="658080"/>
          </a:xfrm>
          <a:prstGeom prst="rect">
            <a:avLst/>
          </a:prstGeom>
          <a:noFill/>
          <a:ln w="0">
            <a:noFill/>
          </a:ln>
        </p:spPr>
        <p:txBody>
          <a:bodyPr lIns="0" rIns="0" tIns="0" bIns="0" anchor="ctr">
            <a:noAutofit/>
          </a:bodyPr>
          <a:p>
            <a:pPr indent="0">
              <a:lnSpc>
                <a:spcPct val="90000"/>
              </a:lnSpc>
              <a:buNone/>
              <a:tabLst>
                <a:tab algn="l" pos="0"/>
              </a:tabLst>
            </a:pPr>
            <a:r>
              <a:rPr b="1" lang="en-US" sz="2500" spc="-1" strike="noStrike">
                <a:solidFill>
                  <a:srgbClr val="377c49"/>
                </a:solidFill>
                <a:latin typeface="Aptos"/>
                <a:ea typeface="Century Gothic"/>
              </a:rPr>
              <a:t>Does index equal to size get rejected?</a:t>
            </a:r>
            <a:endParaRPr b="0" lang="en-US" sz="2500" spc="-1" strike="noStrike">
              <a:latin typeface="Arial"/>
            </a:endParaRPr>
          </a:p>
        </p:txBody>
      </p:sp>
      <p:sp>
        <p:nvSpPr>
          <p:cNvPr id="217" name="TextBox 3"/>
          <p:cNvSpPr/>
          <p:nvPr/>
        </p:nvSpPr>
        <p:spPr>
          <a:xfrm>
            <a:off x="749880" y="1627560"/>
            <a:ext cx="6399720" cy="2570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100" spc="-1" strike="noStrike">
                <a:solidFill>
                  <a:srgbClr val="377c49"/>
                </a:solidFill>
                <a:latin typeface="Aptos"/>
                <a:ea typeface="Arial"/>
              </a:rPr>
              <a:t>STD-010-CPP • Bounds Checking • GoogleTest</a:t>
            </a:r>
            <a:endParaRPr b="0" lang="en-US" sz="1100" spc="-1" strike="noStrike">
              <a:latin typeface="Arial"/>
            </a:endParaRPr>
          </a:p>
        </p:txBody>
      </p:sp>
      <p:sp>
        <p:nvSpPr>
          <p:cNvPr id="218" name="Rounded Rectangle 4"/>
          <p:cNvSpPr/>
          <p:nvPr/>
        </p:nvSpPr>
        <p:spPr>
          <a:xfrm>
            <a:off x="731520" y="2030040"/>
            <a:ext cx="6125400" cy="3290760"/>
          </a:xfrm>
          <a:prstGeom prst="roundRect">
            <a:avLst>
              <a:gd name="adj" fmla="val 16667"/>
            </a:avLst>
          </a:prstGeom>
          <a:solidFill>
            <a:srgbClr val="16221d"/>
          </a:solidFill>
          <a:ln w="13970">
            <a:solidFill>
              <a:srgbClr val="377c4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109800" anchor="ctr">
            <a:noAutofit/>
          </a:bodyPr>
          <a:p>
            <a:pPr algn="ctr">
              <a:lnSpc>
                <a:spcPct val="92000"/>
              </a:lnSpc>
            </a:pPr>
            <a:r>
              <a:rPr b="0" lang="en-US" sz="1250" spc="-1" strike="noStrike">
                <a:solidFill>
                  <a:srgbClr val="ffffff"/>
                </a:solidFill>
                <a:latin typeface="Consolas"/>
                <a:ea typeface="Arial"/>
              </a:rPr>
              <a:t>TEST(BoundsTest, SizeIndexThrows) {</a:t>
            </a:r>
            <a:br>
              <a:rPr sz="1520"/>
            </a:br>
            <a:r>
              <a:rPr b="0" lang="en-US" sz="1250" spc="-1" strike="noStrike">
                <a:solidFill>
                  <a:srgbClr val="ffffff"/>
                </a:solidFill>
                <a:latin typeface="Consolas"/>
                <a:ea typeface="Arial"/>
              </a:rPr>
              <a:t>  std::vector&lt;int&gt; v{10, 20, 30};</a:t>
            </a:r>
            <a:br>
              <a:rPr sz="1520"/>
            </a:br>
            <a:r>
              <a:rPr b="0" lang="en-US" sz="1250" spc="-1" strike="noStrike">
                <a:solidFill>
                  <a:srgbClr val="ffffff"/>
                </a:solidFill>
                <a:latin typeface="Consolas"/>
                <a:ea typeface="Arial"/>
              </a:rPr>
              <a:t>  EXPECT_THROW(v.at(v.size()),</a:t>
            </a:r>
            <a:br>
              <a:rPr sz="1520"/>
            </a:br>
            <a:r>
              <a:rPr b="0" lang="en-US" sz="1250" spc="-1" strike="noStrike">
                <a:solidFill>
                  <a:srgbClr val="ffffff"/>
                </a:solidFill>
                <a:latin typeface="Consolas"/>
                <a:ea typeface="Arial"/>
              </a:rPr>
              <a:t>               std::out_of_range);</a:t>
            </a:r>
            <a:br>
              <a:rPr sz="1520"/>
            </a:br>
            <a:r>
              <a:rPr b="0" lang="en-US" sz="1250" spc="-1" strike="noStrike">
                <a:solidFill>
                  <a:srgbClr val="ffffff"/>
                </a:solidFill>
                <a:latin typeface="Consolas"/>
                <a:ea typeface="Arial"/>
              </a:rPr>
              <a:t>}</a:t>
            </a:r>
            <a:endParaRPr b="0" lang="en-US" sz="1250" spc="-1" strike="noStrike">
              <a:latin typeface="Arial"/>
            </a:endParaRPr>
          </a:p>
        </p:txBody>
      </p:sp>
      <p:sp>
        <p:nvSpPr>
          <p:cNvPr id="219" name="Rounded Rectangle 5"/>
          <p:cNvSpPr/>
          <p:nvPr/>
        </p:nvSpPr>
        <p:spPr>
          <a:xfrm>
            <a:off x="7113960" y="203004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Test type</a:t>
            </a:r>
            <a:endParaRPr b="0" lang="en-US" sz="1050" spc="-1" strike="noStrike">
              <a:latin typeface="Arial"/>
            </a:endParaRPr>
          </a:p>
          <a:p>
            <a:pPr>
              <a:lnSpc>
                <a:spcPct val="100000"/>
              </a:lnSpc>
            </a:pPr>
            <a:r>
              <a:rPr b="0" lang="en-US" sz="1050" spc="-1" strike="noStrike">
                <a:solidFill>
                  <a:srgbClr val="252f2a"/>
                </a:solidFill>
                <a:latin typeface="Aptos"/>
                <a:ea typeface="Arial"/>
              </a:rPr>
              <a:t>Negative boundary test</a:t>
            </a:r>
            <a:endParaRPr b="0" lang="en-US" sz="1050" spc="-1" strike="noStrike">
              <a:latin typeface="Arial"/>
            </a:endParaRPr>
          </a:p>
        </p:txBody>
      </p:sp>
      <p:sp>
        <p:nvSpPr>
          <p:cNvPr id="220" name="Rounded Rectangle 6"/>
          <p:cNvSpPr/>
          <p:nvPr/>
        </p:nvSpPr>
        <p:spPr>
          <a:xfrm>
            <a:off x="7113960" y="287136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Result</a:t>
            </a:r>
            <a:endParaRPr b="0" lang="en-US" sz="1050" spc="-1" strike="noStrike">
              <a:latin typeface="Arial"/>
            </a:endParaRPr>
          </a:p>
          <a:p>
            <a:pPr>
              <a:lnSpc>
                <a:spcPct val="100000"/>
              </a:lnSpc>
            </a:pPr>
            <a:r>
              <a:rPr b="0" lang="en-US" sz="1050" spc="-1" strike="noStrike">
                <a:solidFill>
                  <a:srgbClr val="252f2a"/>
                </a:solidFill>
                <a:latin typeface="Aptos"/>
                <a:ea typeface="Arial"/>
              </a:rPr>
              <a:t>Expected: PASS</a:t>
            </a:r>
            <a:endParaRPr b="0" lang="en-US" sz="1050" spc="-1" strike="noStrike">
              <a:latin typeface="Arial"/>
            </a:endParaRPr>
          </a:p>
        </p:txBody>
      </p:sp>
      <p:sp>
        <p:nvSpPr>
          <p:cNvPr id="221" name="Rounded Rectangle 7"/>
          <p:cNvSpPr/>
          <p:nvPr/>
        </p:nvSpPr>
        <p:spPr>
          <a:xfrm>
            <a:off x="7113960" y="3712320"/>
            <a:ext cx="3885120" cy="9590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Why it matters</a:t>
            </a:r>
            <a:endParaRPr b="0" lang="en-US" sz="1050" spc="-1" strike="noStrike">
              <a:latin typeface="Arial"/>
            </a:endParaRPr>
          </a:p>
          <a:p>
            <a:pPr>
              <a:lnSpc>
                <a:spcPct val="100000"/>
              </a:lnSpc>
            </a:pPr>
            <a:r>
              <a:rPr b="0" lang="en-US" sz="1050" spc="-1" strike="noStrike">
                <a:solidFill>
                  <a:srgbClr val="252f2a"/>
                </a:solidFill>
                <a:latin typeface="Aptos"/>
                <a:ea typeface="Arial"/>
              </a:rPr>
              <a:t>An index equal to the size is already outside the vector.</a:t>
            </a:r>
            <a:endParaRPr b="0" lang="en-US" sz="1050" spc="-1" strike="noStrike">
              <a:latin typeface="Arial"/>
            </a:endParaRPr>
          </a:p>
        </p:txBody>
      </p:sp>
      <p:sp>
        <p:nvSpPr>
          <p:cNvPr id="222" name="Rounded Rectangle 8"/>
          <p:cNvSpPr/>
          <p:nvPr/>
        </p:nvSpPr>
        <p:spPr>
          <a:xfrm>
            <a:off x="7113960" y="4791600"/>
            <a:ext cx="3885120" cy="757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Take it further</a:t>
            </a:r>
            <a:endParaRPr b="0" lang="en-US" sz="1050" spc="-1" strike="noStrike">
              <a:latin typeface="Arial"/>
            </a:endParaRPr>
          </a:p>
          <a:p>
            <a:pPr>
              <a:lnSpc>
                <a:spcPct val="100000"/>
              </a:lnSpc>
            </a:pPr>
            <a:r>
              <a:rPr b="0" lang="en-US" sz="1050" spc="-1" strike="noStrike">
                <a:solidFill>
                  <a:srgbClr val="252f2a"/>
                </a:solidFill>
                <a:latin typeface="Aptos"/>
                <a:ea typeface="Arial"/>
              </a:rPr>
              <a:t>Run this test every time the code is changed.</a:t>
            </a:r>
            <a:endParaRPr b="0" lang="en-US" sz="1050" spc="-1" strike="noStrike">
              <a:latin typeface="Arial"/>
            </a:endParaRPr>
          </a:p>
        </p:txBody>
      </p:sp>
      <p:sp>
        <p:nvSpPr>
          <p:cNvPr id="223" name="TextBox 9"/>
          <p:cNvSpPr/>
          <p:nvPr/>
        </p:nvSpPr>
        <p:spPr>
          <a:xfrm>
            <a:off x="768240" y="5623560"/>
            <a:ext cx="1024020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Run this test in Visual Studio Test Explorer and take a screenshot of the result.</a:t>
            </a:r>
            <a:endParaRPr b="0" lang="en-US" sz="950" spc="-1" strike="noStrike">
              <a:latin typeface="Arial"/>
            </a:endParaRPr>
          </a:p>
        </p:txBody>
      </p:sp>
      <p:sp>
        <p:nvSpPr>
          <p:cNvPr id="224" name="Rectangle 181"/>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 name="Rectangle 182"/>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6" name="Rectangle 183"/>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7" name="TextBox 184"/>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28" name="TextBox 185"/>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10</a:t>
            </a:r>
            <a:endParaRPr b="0" lang="en-US" sz="900" spc="-1" strike="noStrike">
              <a:latin typeface="Arial"/>
            </a:endParaRPr>
          </a:p>
        </p:txBody>
      </p:sp>
      <p:pic>
        <p:nvPicPr>
          <p:cNvPr id="229" name="Picture 186"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30" name="PlaceHolder 1"/>
          <p:cNvSpPr>
            <a:spLocks noGrp="1"/>
          </p:cNvSpPr>
          <p:nvPr>
            <p:ph type="title"/>
          </p:nvPr>
        </p:nvSpPr>
        <p:spPr>
          <a:xfrm>
            <a:off x="621720" y="347400"/>
            <a:ext cx="10698120" cy="658080"/>
          </a:xfrm>
          <a:prstGeom prst="rect">
            <a:avLst/>
          </a:prstGeom>
          <a:noFill/>
          <a:ln w="0">
            <a:noFill/>
          </a:ln>
        </p:spPr>
        <p:txBody>
          <a:bodyPr lIns="0" rIns="0" tIns="0" bIns="0" anchor="ctr">
            <a:noAutofit/>
          </a:bodyPr>
          <a:p>
            <a:pPr indent="0">
              <a:lnSpc>
                <a:spcPct val="90000"/>
              </a:lnSpc>
              <a:buNone/>
              <a:tabLst>
                <a:tab algn="l" pos="0"/>
              </a:tabLst>
            </a:pPr>
            <a:r>
              <a:rPr b="1" lang="en-US" sz="2500" spc="-1" strike="noStrike">
                <a:solidFill>
                  <a:srgbClr val="377c49"/>
                </a:solidFill>
                <a:latin typeface="Aptos"/>
                <a:ea typeface="Century Gothic"/>
              </a:rPr>
              <a:t>Does a very large index get rejected?</a:t>
            </a:r>
            <a:endParaRPr b="0" lang="en-US" sz="2500" spc="-1" strike="noStrike">
              <a:latin typeface="Arial"/>
            </a:endParaRPr>
          </a:p>
        </p:txBody>
      </p:sp>
      <p:sp>
        <p:nvSpPr>
          <p:cNvPr id="231" name="TextBox 3"/>
          <p:cNvSpPr/>
          <p:nvPr/>
        </p:nvSpPr>
        <p:spPr>
          <a:xfrm>
            <a:off x="749880" y="1627560"/>
            <a:ext cx="6399720" cy="2570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100" spc="-1" strike="noStrike">
                <a:solidFill>
                  <a:srgbClr val="377c49"/>
                </a:solidFill>
                <a:latin typeface="Aptos"/>
                <a:ea typeface="Arial"/>
              </a:rPr>
              <a:t>STD-010-CPP • Bounds Checking • GoogleTest</a:t>
            </a:r>
            <a:endParaRPr b="0" lang="en-US" sz="1100" spc="-1" strike="noStrike">
              <a:latin typeface="Arial"/>
            </a:endParaRPr>
          </a:p>
        </p:txBody>
      </p:sp>
      <p:sp>
        <p:nvSpPr>
          <p:cNvPr id="232" name="Rounded Rectangle 4"/>
          <p:cNvSpPr/>
          <p:nvPr/>
        </p:nvSpPr>
        <p:spPr>
          <a:xfrm>
            <a:off x="731520" y="2030040"/>
            <a:ext cx="6125400" cy="3290760"/>
          </a:xfrm>
          <a:prstGeom prst="roundRect">
            <a:avLst>
              <a:gd name="adj" fmla="val 16667"/>
            </a:avLst>
          </a:prstGeom>
          <a:solidFill>
            <a:srgbClr val="16221d"/>
          </a:solidFill>
          <a:ln w="13970">
            <a:solidFill>
              <a:srgbClr val="377c4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109800" anchor="ctr">
            <a:noAutofit/>
          </a:bodyPr>
          <a:p>
            <a:pPr algn="ctr">
              <a:lnSpc>
                <a:spcPct val="92000"/>
              </a:lnSpc>
            </a:pPr>
            <a:r>
              <a:rPr b="0" lang="en-US" sz="1250" spc="-1" strike="noStrike">
                <a:solidFill>
                  <a:srgbClr val="ffffff"/>
                </a:solidFill>
                <a:latin typeface="Consolas"/>
                <a:ea typeface="Arial"/>
              </a:rPr>
              <a:t>TEST(BoundsTest, LargeIndexThrows) {</a:t>
            </a:r>
            <a:br>
              <a:rPr sz="1520"/>
            </a:br>
            <a:r>
              <a:rPr b="0" lang="en-US" sz="1250" spc="-1" strike="noStrike">
                <a:solidFill>
                  <a:srgbClr val="ffffff"/>
                </a:solidFill>
                <a:latin typeface="Consolas"/>
                <a:ea typeface="Arial"/>
              </a:rPr>
              <a:t>  std::vector&lt;int&gt; v{10, 20, 30};</a:t>
            </a:r>
            <a:br>
              <a:rPr sz="1520"/>
            </a:br>
            <a:r>
              <a:rPr b="0" lang="en-US" sz="1250" spc="-1" strike="noStrike">
                <a:solidFill>
                  <a:srgbClr val="ffffff"/>
                </a:solidFill>
                <a:latin typeface="Consolas"/>
                <a:ea typeface="Arial"/>
              </a:rPr>
              <a:t>  EXPECT_THROW(v.at(1000),</a:t>
            </a:r>
            <a:br>
              <a:rPr sz="1520"/>
            </a:br>
            <a:r>
              <a:rPr b="0" lang="en-US" sz="1250" spc="-1" strike="noStrike">
                <a:solidFill>
                  <a:srgbClr val="ffffff"/>
                </a:solidFill>
                <a:latin typeface="Consolas"/>
                <a:ea typeface="Arial"/>
              </a:rPr>
              <a:t>               std::out_of_range);</a:t>
            </a:r>
            <a:br>
              <a:rPr sz="1520"/>
            </a:br>
            <a:r>
              <a:rPr b="0" lang="en-US" sz="1250" spc="-1" strike="noStrike">
                <a:solidFill>
                  <a:srgbClr val="ffffff"/>
                </a:solidFill>
                <a:latin typeface="Consolas"/>
                <a:ea typeface="Arial"/>
              </a:rPr>
              <a:t>}</a:t>
            </a:r>
            <a:endParaRPr b="0" lang="en-US" sz="1250" spc="-1" strike="noStrike">
              <a:latin typeface="Arial"/>
            </a:endParaRPr>
          </a:p>
        </p:txBody>
      </p:sp>
      <p:sp>
        <p:nvSpPr>
          <p:cNvPr id="233" name="Rounded Rectangle 5"/>
          <p:cNvSpPr/>
          <p:nvPr/>
        </p:nvSpPr>
        <p:spPr>
          <a:xfrm>
            <a:off x="7113960" y="203004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Test type</a:t>
            </a:r>
            <a:endParaRPr b="0" lang="en-US" sz="1050" spc="-1" strike="noStrike">
              <a:latin typeface="Arial"/>
            </a:endParaRPr>
          </a:p>
          <a:p>
            <a:pPr>
              <a:lnSpc>
                <a:spcPct val="100000"/>
              </a:lnSpc>
            </a:pPr>
            <a:r>
              <a:rPr b="0" lang="en-US" sz="1050" spc="-1" strike="noStrike">
                <a:solidFill>
                  <a:srgbClr val="252f2a"/>
                </a:solidFill>
                <a:latin typeface="Aptos"/>
                <a:ea typeface="Arial"/>
              </a:rPr>
              <a:t>Negative test</a:t>
            </a:r>
            <a:endParaRPr b="0" lang="en-US" sz="1050" spc="-1" strike="noStrike">
              <a:latin typeface="Arial"/>
            </a:endParaRPr>
          </a:p>
        </p:txBody>
      </p:sp>
      <p:sp>
        <p:nvSpPr>
          <p:cNvPr id="234" name="Rounded Rectangle 6"/>
          <p:cNvSpPr/>
          <p:nvPr/>
        </p:nvSpPr>
        <p:spPr>
          <a:xfrm>
            <a:off x="7113960" y="287136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Result</a:t>
            </a:r>
            <a:endParaRPr b="0" lang="en-US" sz="1050" spc="-1" strike="noStrike">
              <a:latin typeface="Arial"/>
            </a:endParaRPr>
          </a:p>
          <a:p>
            <a:pPr>
              <a:lnSpc>
                <a:spcPct val="100000"/>
              </a:lnSpc>
            </a:pPr>
            <a:r>
              <a:rPr b="0" lang="en-US" sz="1050" spc="-1" strike="noStrike">
                <a:solidFill>
                  <a:srgbClr val="252f2a"/>
                </a:solidFill>
                <a:latin typeface="Aptos"/>
                <a:ea typeface="Arial"/>
              </a:rPr>
              <a:t>Expected: PASS</a:t>
            </a:r>
            <a:endParaRPr b="0" lang="en-US" sz="1050" spc="-1" strike="noStrike">
              <a:latin typeface="Arial"/>
            </a:endParaRPr>
          </a:p>
        </p:txBody>
      </p:sp>
      <p:sp>
        <p:nvSpPr>
          <p:cNvPr id="235" name="Rounded Rectangle 7"/>
          <p:cNvSpPr/>
          <p:nvPr/>
        </p:nvSpPr>
        <p:spPr>
          <a:xfrm>
            <a:off x="7113960" y="3712320"/>
            <a:ext cx="3885120" cy="9590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Why it matters</a:t>
            </a:r>
            <a:endParaRPr b="0" lang="en-US" sz="1050" spc="-1" strike="noStrike">
              <a:latin typeface="Arial"/>
            </a:endParaRPr>
          </a:p>
          <a:p>
            <a:pPr>
              <a:lnSpc>
                <a:spcPct val="100000"/>
              </a:lnSpc>
            </a:pPr>
            <a:r>
              <a:rPr b="0" lang="en-US" sz="1050" spc="-1" strike="noStrike">
                <a:solidFill>
                  <a:srgbClr val="252f2a"/>
                </a:solidFill>
                <a:latin typeface="Aptos"/>
                <a:ea typeface="Arial"/>
              </a:rPr>
              <a:t>A very large bad index should be blocked.</a:t>
            </a:r>
            <a:endParaRPr b="0" lang="en-US" sz="1050" spc="-1" strike="noStrike">
              <a:latin typeface="Arial"/>
            </a:endParaRPr>
          </a:p>
        </p:txBody>
      </p:sp>
      <p:sp>
        <p:nvSpPr>
          <p:cNvPr id="236" name="Rounded Rectangle 8"/>
          <p:cNvSpPr/>
          <p:nvPr/>
        </p:nvSpPr>
        <p:spPr>
          <a:xfrm>
            <a:off x="7113960" y="4791600"/>
            <a:ext cx="3885120" cy="757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Take it further</a:t>
            </a:r>
            <a:endParaRPr b="0" lang="en-US" sz="1050" spc="-1" strike="noStrike">
              <a:latin typeface="Arial"/>
            </a:endParaRPr>
          </a:p>
          <a:p>
            <a:pPr>
              <a:lnSpc>
                <a:spcPct val="100000"/>
              </a:lnSpc>
            </a:pPr>
            <a:r>
              <a:rPr b="0" lang="en-US" sz="1050" spc="-1" strike="noStrike">
                <a:solidFill>
                  <a:srgbClr val="252f2a"/>
                </a:solidFill>
                <a:latin typeface="Aptos"/>
                <a:ea typeface="Arial"/>
              </a:rPr>
              <a:t>Try more random bad index values.</a:t>
            </a:r>
            <a:endParaRPr b="0" lang="en-US" sz="1050" spc="-1" strike="noStrike">
              <a:latin typeface="Arial"/>
            </a:endParaRPr>
          </a:p>
        </p:txBody>
      </p:sp>
      <p:sp>
        <p:nvSpPr>
          <p:cNvPr id="237" name="TextBox 9"/>
          <p:cNvSpPr/>
          <p:nvPr/>
        </p:nvSpPr>
        <p:spPr>
          <a:xfrm>
            <a:off x="768240" y="5623560"/>
            <a:ext cx="1024020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Run this test in Visual Studio Test Explorer and take a screenshot of the result.</a:t>
            </a:r>
            <a:endParaRPr b="0" lang="en-US" sz="950" spc="-1" strike="noStrike">
              <a:latin typeface="Arial"/>
            </a:endParaRPr>
          </a:p>
        </p:txBody>
      </p:sp>
      <p:sp>
        <p:nvSpPr>
          <p:cNvPr id="238" name="Rectangle 191"/>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9" name="Rectangle 192"/>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0" name="Rectangle 193"/>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1" name="TextBox 194"/>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42" name="TextBox 195"/>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11</a:t>
            </a:r>
            <a:endParaRPr b="0" lang="en-US" sz="900" spc="-1" strike="noStrike">
              <a:latin typeface="Arial"/>
            </a:endParaRPr>
          </a:p>
        </p:txBody>
      </p:sp>
      <p:pic>
        <p:nvPicPr>
          <p:cNvPr id="243" name="Picture 196"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621720" y="347400"/>
            <a:ext cx="10698120" cy="658080"/>
          </a:xfrm>
          <a:prstGeom prst="rect">
            <a:avLst/>
          </a:prstGeom>
          <a:noFill/>
          <a:ln w="0">
            <a:noFill/>
          </a:ln>
        </p:spPr>
        <p:txBody>
          <a:bodyPr lIns="0" rIns="0" tIns="0" bIns="0" anchor="ctr">
            <a:noAutofit/>
          </a:bodyPr>
          <a:p>
            <a:pPr indent="0">
              <a:lnSpc>
                <a:spcPct val="90000"/>
              </a:lnSpc>
              <a:buNone/>
              <a:tabLst>
                <a:tab algn="l" pos="0"/>
              </a:tabLst>
            </a:pPr>
            <a:r>
              <a:rPr b="1" lang="en-US" sz="2500" spc="-1" strike="noStrike">
                <a:solidFill>
                  <a:srgbClr val="377c49"/>
                </a:solidFill>
                <a:latin typeface="Aptos"/>
                <a:ea typeface="Century Gothic"/>
              </a:rPr>
              <a:t>Does an empty vector reject index 0?</a:t>
            </a:r>
            <a:endParaRPr b="0" lang="en-US" sz="2500" spc="-1" strike="noStrike">
              <a:latin typeface="Arial"/>
            </a:endParaRPr>
          </a:p>
        </p:txBody>
      </p:sp>
      <p:sp>
        <p:nvSpPr>
          <p:cNvPr id="245" name="TextBox 3"/>
          <p:cNvSpPr/>
          <p:nvPr/>
        </p:nvSpPr>
        <p:spPr>
          <a:xfrm>
            <a:off x="749880" y="1627560"/>
            <a:ext cx="6399720" cy="2570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100" spc="-1" strike="noStrike">
                <a:solidFill>
                  <a:srgbClr val="377c49"/>
                </a:solidFill>
                <a:latin typeface="Aptos"/>
                <a:ea typeface="Arial"/>
              </a:rPr>
              <a:t>STD-010-CPP • Bounds Checking • GoogleTest</a:t>
            </a:r>
            <a:endParaRPr b="0" lang="en-US" sz="1100" spc="-1" strike="noStrike">
              <a:latin typeface="Arial"/>
            </a:endParaRPr>
          </a:p>
        </p:txBody>
      </p:sp>
      <p:sp>
        <p:nvSpPr>
          <p:cNvPr id="246" name="Rounded Rectangle 4"/>
          <p:cNvSpPr/>
          <p:nvPr/>
        </p:nvSpPr>
        <p:spPr>
          <a:xfrm>
            <a:off x="731520" y="2030040"/>
            <a:ext cx="6125400" cy="3290760"/>
          </a:xfrm>
          <a:prstGeom prst="roundRect">
            <a:avLst>
              <a:gd name="adj" fmla="val 16667"/>
            </a:avLst>
          </a:prstGeom>
          <a:solidFill>
            <a:srgbClr val="16221d"/>
          </a:solidFill>
          <a:ln w="13970">
            <a:solidFill>
              <a:srgbClr val="377c4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09800" bIns="109800" anchor="ctr">
            <a:noAutofit/>
          </a:bodyPr>
          <a:p>
            <a:pPr algn="ctr">
              <a:lnSpc>
                <a:spcPct val="92000"/>
              </a:lnSpc>
            </a:pPr>
            <a:r>
              <a:rPr b="0" lang="en-US" sz="1250" spc="-1" strike="noStrike">
                <a:solidFill>
                  <a:srgbClr val="ffffff"/>
                </a:solidFill>
                <a:latin typeface="Consolas"/>
                <a:ea typeface="Arial"/>
              </a:rPr>
              <a:t>TEST(BoundsTest, EmptyVectorThrows) {</a:t>
            </a:r>
            <a:br>
              <a:rPr sz="1520"/>
            </a:br>
            <a:r>
              <a:rPr b="0" lang="en-US" sz="1250" spc="-1" strike="noStrike">
                <a:solidFill>
                  <a:srgbClr val="ffffff"/>
                </a:solidFill>
                <a:latin typeface="Consolas"/>
                <a:ea typeface="Arial"/>
              </a:rPr>
              <a:t>  std::vector&lt;int&gt; v;</a:t>
            </a:r>
            <a:br>
              <a:rPr sz="1520"/>
            </a:br>
            <a:r>
              <a:rPr b="0" lang="en-US" sz="1250" spc="-1" strike="noStrike">
                <a:solidFill>
                  <a:srgbClr val="ffffff"/>
                </a:solidFill>
                <a:latin typeface="Consolas"/>
                <a:ea typeface="Arial"/>
              </a:rPr>
              <a:t>  EXPECT_THROW(v.at(0),</a:t>
            </a:r>
            <a:br>
              <a:rPr sz="1520"/>
            </a:br>
            <a:r>
              <a:rPr b="0" lang="en-US" sz="1250" spc="-1" strike="noStrike">
                <a:solidFill>
                  <a:srgbClr val="ffffff"/>
                </a:solidFill>
                <a:latin typeface="Consolas"/>
                <a:ea typeface="Arial"/>
              </a:rPr>
              <a:t>               std::out_of_range);</a:t>
            </a:r>
            <a:br>
              <a:rPr sz="1520"/>
            </a:br>
            <a:r>
              <a:rPr b="0" lang="en-US" sz="1250" spc="-1" strike="noStrike">
                <a:solidFill>
                  <a:srgbClr val="ffffff"/>
                </a:solidFill>
                <a:latin typeface="Consolas"/>
                <a:ea typeface="Arial"/>
              </a:rPr>
              <a:t>}</a:t>
            </a:r>
            <a:endParaRPr b="0" lang="en-US" sz="1250" spc="-1" strike="noStrike">
              <a:latin typeface="Arial"/>
            </a:endParaRPr>
          </a:p>
        </p:txBody>
      </p:sp>
      <p:sp>
        <p:nvSpPr>
          <p:cNvPr id="247" name="Rounded Rectangle 5"/>
          <p:cNvSpPr/>
          <p:nvPr/>
        </p:nvSpPr>
        <p:spPr>
          <a:xfrm>
            <a:off x="7113960" y="203004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Test type</a:t>
            </a:r>
            <a:endParaRPr b="0" lang="en-US" sz="1050" spc="-1" strike="noStrike">
              <a:latin typeface="Arial"/>
            </a:endParaRPr>
          </a:p>
          <a:p>
            <a:pPr>
              <a:lnSpc>
                <a:spcPct val="100000"/>
              </a:lnSpc>
            </a:pPr>
            <a:r>
              <a:rPr b="0" lang="en-US" sz="1050" spc="-1" strike="noStrike">
                <a:solidFill>
                  <a:srgbClr val="252f2a"/>
                </a:solidFill>
                <a:latin typeface="Aptos"/>
                <a:ea typeface="Arial"/>
              </a:rPr>
              <a:t>Negative edge case</a:t>
            </a:r>
            <a:endParaRPr b="0" lang="en-US" sz="1050" spc="-1" strike="noStrike">
              <a:latin typeface="Arial"/>
            </a:endParaRPr>
          </a:p>
        </p:txBody>
      </p:sp>
      <p:sp>
        <p:nvSpPr>
          <p:cNvPr id="248" name="Rounded Rectangle 6"/>
          <p:cNvSpPr/>
          <p:nvPr/>
        </p:nvSpPr>
        <p:spPr>
          <a:xfrm>
            <a:off x="7113960" y="2871360"/>
            <a:ext cx="3885120" cy="7304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Result</a:t>
            </a:r>
            <a:endParaRPr b="0" lang="en-US" sz="1050" spc="-1" strike="noStrike">
              <a:latin typeface="Arial"/>
            </a:endParaRPr>
          </a:p>
          <a:p>
            <a:pPr>
              <a:lnSpc>
                <a:spcPct val="100000"/>
              </a:lnSpc>
            </a:pPr>
            <a:r>
              <a:rPr b="0" lang="en-US" sz="1050" spc="-1" strike="noStrike">
                <a:solidFill>
                  <a:srgbClr val="252f2a"/>
                </a:solidFill>
                <a:latin typeface="Aptos"/>
                <a:ea typeface="Arial"/>
              </a:rPr>
              <a:t>Expected: PASS</a:t>
            </a:r>
            <a:endParaRPr b="0" lang="en-US" sz="1050" spc="-1" strike="noStrike">
              <a:latin typeface="Arial"/>
            </a:endParaRPr>
          </a:p>
        </p:txBody>
      </p:sp>
      <p:sp>
        <p:nvSpPr>
          <p:cNvPr id="249" name="Rounded Rectangle 7"/>
          <p:cNvSpPr/>
          <p:nvPr/>
        </p:nvSpPr>
        <p:spPr>
          <a:xfrm>
            <a:off x="7113960" y="3712320"/>
            <a:ext cx="3885120" cy="95904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Why it matters</a:t>
            </a:r>
            <a:endParaRPr b="0" lang="en-US" sz="1050" spc="-1" strike="noStrike">
              <a:latin typeface="Arial"/>
            </a:endParaRPr>
          </a:p>
          <a:p>
            <a:pPr>
              <a:lnSpc>
                <a:spcPct val="100000"/>
              </a:lnSpc>
            </a:pPr>
            <a:r>
              <a:rPr b="0" lang="en-US" sz="1050" spc="-1" strike="noStrike">
                <a:solidFill>
                  <a:srgbClr val="252f2a"/>
                </a:solidFill>
                <a:latin typeface="Aptos"/>
                <a:ea typeface="Arial"/>
              </a:rPr>
              <a:t>An empty vector has no valid index, even 0.</a:t>
            </a:r>
            <a:endParaRPr b="0" lang="en-US" sz="1050" spc="-1" strike="noStrike">
              <a:latin typeface="Arial"/>
            </a:endParaRPr>
          </a:p>
        </p:txBody>
      </p:sp>
      <p:sp>
        <p:nvSpPr>
          <p:cNvPr id="250" name="Rounded Rectangle 8"/>
          <p:cNvSpPr/>
          <p:nvPr/>
        </p:nvSpPr>
        <p:spPr>
          <a:xfrm>
            <a:off x="7113960" y="4791600"/>
            <a:ext cx="3885120" cy="757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50" spc="-1" strike="noStrike">
                <a:solidFill>
                  <a:srgbClr val="256f6f"/>
                </a:solidFill>
                <a:latin typeface="Aptos"/>
                <a:ea typeface="Arial"/>
              </a:rPr>
              <a:t>Take it further</a:t>
            </a:r>
            <a:endParaRPr b="0" lang="en-US" sz="1050" spc="-1" strike="noStrike">
              <a:latin typeface="Arial"/>
            </a:endParaRPr>
          </a:p>
          <a:p>
            <a:pPr>
              <a:lnSpc>
                <a:spcPct val="100000"/>
              </a:lnSpc>
            </a:pPr>
            <a:r>
              <a:rPr b="0" lang="en-US" sz="1050" spc="-1" strike="noStrike">
                <a:solidFill>
                  <a:srgbClr val="252f2a"/>
                </a:solidFill>
                <a:latin typeface="Aptos"/>
                <a:ea typeface="Arial"/>
              </a:rPr>
              <a:t>Use the same tests on the real Green Pace function later.</a:t>
            </a:r>
            <a:endParaRPr b="0" lang="en-US" sz="1050" spc="-1" strike="noStrike">
              <a:latin typeface="Arial"/>
            </a:endParaRPr>
          </a:p>
        </p:txBody>
      </p:sp>
      <p:sp>
        <p:nvSpPr>
          <p:cNvPr id="251" name="TextBox 9"/>
          <p:cNvSpPr/>
          <p:nvPr/>
        </p:nvSpPr>
        <p:spPr>
          <a:xfrm>
            <a:off x="768240" y="5623560"/>
            <a:ext cx="1024020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Run this test in Visual Studio Test Explorer and take a screenshot of the result.</a:t>
            </a:r>
            <a:endParaRPr b="0" lang="en-US" sz="950" spc="-1" strike="noStrike">
              <a:latin typeface="Arial"/>
            </a:endParaRPr>
          </a:p>
        </p:txBody>
      </p:sp>
      <p:sp>
        <p:nvSpPr>
          <p:cNvPr id="252" name="Rectangle 201"/>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3" name="Rectangle 202"/>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4" name="Rectangle 203"/>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5" name="TextBox 204"/>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56" name="TextBox 205"/>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12</a:t>
            </a:r>
            <a:endParaRPr b="0" lang="en-US" sz="900" spc="-1" strike="noStrike">
              <a:latin typeface="Arial"/>
            </a:endParaRPr>
          </a:p>
        </p:txBody>
      </p:sp>
      <p:pic>
        <p:nvPicPr>
          <p:cNvPr id="257" name="Picture 206"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58"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AUTOMATION SUMMARY</a:t>
            </a:r>
            <a:endParaRPr b="0" lang="en-US" sz="2700" spc="-1" strike="noStrike">
              <a:latin typeface="Arial"/>
            </a:endParaRPr>
          </a:p>
        </p:txBody>
      </p:sp>
      <p:pic>
        <p:nvPicPr>
          <p:cNvPr id="259"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nvPr/>
        </p:nvPicPr>
        <p:blipFill>
          <a:blip r:embed="rId1"/>
          <a:stretch/>
        </p:blipFill>
        <p:spPr>
          <a:xfrm>
            <a:off x="1234440" y="1143000"/>
            <a:ext cx="9006480" cy="4160160"/>
          </a:xfrm>
          <a:prstGeom prst="rect">
            <a:avLst/>
          </a:prstGeom>
          <a:ln w="12700">
            <a:solidFill>
              <a:srgbClr val="c8d8cd"/>
            </a:solidFill>
            <a:round/>
          </a:ln>
        </p:spPr>
      </p:pic>
      <p:sp>
        <p:nvSpPr>
          <p:cNvPr id="260" name="Rounded Rectangle 204"/>
          <p:cNvSpPr/>
          <p:nvPr/>
        </p:nvSpPr>
        <p:spPr>
          <a:xfrm>
            <a:off x="658440" y="5468040"/>
            <a:ext cx="3245040" cy="748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00" spc="-1" strike="noStrike">
                <a:solidFill>
                  <a:srgbClr val="377c49"/>
                </a:solidFill>
                <a:latin typeface="Aptos"/>
                <a:ea typeface="Arial"/>
              </a:rPr>
              <a:t>PRE-PRODUCTION</a:t>
            </a:r>
            <a:endParaRPr b="0" lang="en-US" sz="1000" spc="-1" strike="noStrike">
              <a:latin typeface="Arial"/>
            </a:endParaRPr>
          </a:p>
          <a:p>
            <a:pPr>
              <a:lnSpc>
                <a:spcPct val="100000"/>
              </a:lnSpc>
            </a:pPr>
            <a:r>
              <a:rPr b="0" lang="en-US" sz="1000" spc="-1" strike="noStrike">
                <a:solidFill>
                  <a:srgbClr val="252f2a"/>
                </a:solidFill>
                <a:latin typeface="Aptos"/>
                <a:ea typeface="Arial"/>
              </a:rPr>
              <a:t>Design rules → compile → static checks → GoogleTest</a:t>
            </a:r>
            <a:endParaRPr b="0" lang="en-US" sz="1000" spc="-1" strike="noStrike">
              <a:latin typeface="Arial"/>
            </a:endParaRPr>
          </a:p>
        </p:txBody>
      </p:sp>
      <p:sp>
        <p:nvSpPr>
          <p:cNvPr id="261" name="Rounded Rectangle 205"/>
          <p:cNvSpPr/>
          <p:nvPr/>
        </p:nvSpPr>
        <p:spPr>
          <a:xfrm>
            <a:off x="4096440" y="5468040"/>
            <a:ext cx="3153600" cy="748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00" spc="-1" strike="noStrike">
                <a:solidFill>
                  <a:srgbClr val="377c49"/>
                </a:solidFill>
                <a:latin typeface="Aptos"/>
                <a:ea typeface="Arial"/>
              </a:rPr>
              <a:t>BUILD GATE</a:t>
            </a:r>
            <a:endParaRPr b="0" lang="en-US" sz="1000" spc="-1" strike="noStrike">
              <a:latin typeface="Arial"/>
            </a:endParaRPr>
          </a:p>
          <a:p>
            <a:pPr>
              <a:lnSpc>
                <a:spcPct val="100000"/>
              </a:lnSpc>
            </a:pPr>
            <a:r>
              <a:rPr b="0" lang="en-US" sz="1000" spc="-1" strike="noStrike">
                <a:solidFill>
                  <a:srgbClr val="252f2a"/>
                </a:solidFill>
                <a:latin typeface="Aptos"/>
                <a:ea typeface="Arial"/>
              </a:rPr>
              <a:t>Stop the build when a serious problem is found.</a:t>
            </a:r>
            <a:endParaRPr b="0" lang="en-US" sz="1000" spc="-1" strike="noStrike">
              <a:latin typeface="Arial"/>
            </a:endParaRPr>
          </a:p>
        </p:txBody>
      </p:sp>
      <p:sp>
        <p:nvSpPr>
          <p:cNvPr id="262" name="Rounded Rectangle 206"/>
          <p:cNvSpPr/>
          <p:nvPr/>
        </p:nvSpPr>
        <p:spPr>
          <a:xfrm>
            <a:off x="7452360" y="5468040"/>
            <a:ext cx="3153600" cy="748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000" spc="-1" strike="noStrike">
                <a:solidFill>
                  <a:srgbClr val="377c49"/>
                </a:solidFill>
                <a:latin typeface="Aptos"/>
                <a:ea typeface="Arial"/>
              </a:rPr>
              <a:t>PRODUCTION</a:t>
            </a:r>
            <a:endParaRPr b="0" lang="en-US" sz="1000" spc="-1" strike="noStrike">
              <a:latin typeface="Arial"/>
            </a:endParaRPr>
          </a:p>
          <a:p>
            <a:pPr>
              <a:lnSpc>
                <a:spcPct val="100000"/>
              </a:lnSpc>
            </a:pPr>
            <a:r>
              <a:rPr b="0" lang="en-US" sz="1000" spc="-1" strike="noStrike">
                <a:solidFill>
                  <a:srgbClr val="252f2a"/>
                </a:solidFill>
                <a:latin typeface="Aptos"/>
                <a:ea typeface="Arial"/>
              </a:rPr>
              <a:t>Keep logs and alerts running after release.</a:t>
            </a:r>
            <a:endParaRPr b="0" lang="en-US" sz="1000" spc="-1" strike="noStrike">
              <a:latin typeface="Arial"/>
            </a:endParaRPr>
          </a:p>
        </p:txBody>
      </p:sp>
      <p:sp>
        <p:nvSpPr>
          <p:cNvPr id="263" name="Rectangle 208"/>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4" name="Rectangle 209"/>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5" name="Rectangle 210"/>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6" name="TextBox 211"/>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67" name="TextBox 212"/>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13</a:t>
            </a:r>
            <a:endParaRPr b="0" lang="en-US" sz="900" spc="-1" strike="noStrike">
              <a:latin typeface="Arial"/>
            </a:endParaRPr>
          </a:p>
        </p:txBody>
      </p:sp>
      <p:pic>
        <p:nvPicPr>
          <p:cNvPr id="268" name="Picture 213" descr="green_pace_icon_transparent.png"/>
          <p:cNvPicPr/>
          <p:nvPr/>
        </p:nvPicPr>
        <p:blipFill>
          <a:blip r:embed="rId2"/>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69"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TOOLS AND EXTERNAL TESTING</a:t>
            </a:r>
            <a:endParaRPr b="0" lang="en-US" sz="2700" spc="-1" strike="noStrike">
              <a:latin typeface="Arial"/>
            </a:endParaRPr>
          </a:p>
        </p:txBody>
      </p:sp>
      <p:sp>
        <p:nvSpPr>
          <p:cNvPr id="270" name="TextBox 211"/>
          <p:cNvSpPr/>
          <p:nvPr/>
        </p:nvSpPr>
        <p:spPr>
          <a:xfrm>
            <a:off x="713160" y="1847160"/>
            <a:ext cx="4662360" cy="1272240"/>
          </a:xfrm>
          <a:prstGeom prst="rect">
            <a:avLst/>
          </a:prstGeom>
          <a:noFill/>
          <a:ln w="0">
            <a:noFill/>
          </a:ln>
        </p:spPr>
        <p:style>
          <a:lnRef idx="0"/>
          <a:fillRef idx="0"/>
          <a:effectRef idx="0"/>
          <a:fontRef idx="minor"/>
        </p:style>
        <p:txBody>
          <a:bodyPr lIns="36720" rIns="36720" tIns="27360" bIns="27360" anchor="t">
            <a:spAutoFit/>
          </a:bodyPr>
          <a:p>
            <a:pPr marL="219600" indent="-128160">
              <a:lnSpc>
                <a:spcPct val="100000"/>
              </a:lnSpc>
              <a:spcAft>
                <a:spcPts val="400"/>
              </a:spcAft>
              <a:buClr>
                <a:srgbClr val="000000"/>
              </a:buClr>
              <a:buFont typeface="Arial"/>
              <a:buChar char="•"/>
            </a:pPr>
            <a:r>
              <a:rPr b="0" lang="en-US" sz="1400" spc="-1" strike="noStrike">
                <a:solidFill>
                  <a:srgbClr val="252f2a"/>
                </a:solidFill>
                <a:latin typeface="Aptos"/>
                <a:ea typeface="Arial"/>
              </a:rPr>
              <a:t>Visual Studio Code Analysis: runs with the build</a:t>
            </a:r>
            <a:endParaRPr b="0" lang="en-US" sz="1400" spc="-1" strike="noStrike">
              <a:latin typeface="Arial"/>
            </a:endParaRPr>
          </a:p>
          <a:p>
            <a:pPr marL="219600" indent="-128160">
              <a:lnSpc>
                <a:spcPct val="100000"/>
              </a:lnSpc>
              <a:spcAft>
                <a:spcPts val="400"/>
              </a:spcAft>
              <a:buClr>
                <a:srgbClr val="000000"/>
              </a:buClr>
              <a:buFont typeface="Arial"/>
              <a:buChar char="•"/>
            </a:pPr>
            <a:r>
              <a:rPr b="0" lang="en-US" sz="1400" spc="-1" strike="noStrike">
                <a:solidFill>
                  <a:srgbClr val="252f2a"/>
                </a:solidFill>
                <a:latin typeface="Aptos"/>
                <a:ea typeface="Arial"/>
              </a:rPr>
              <a:t>Cppcheck 2.21.0: checks memory and logic problems</a:t>
            </a:r>
            <a:endParaRPr b="0" lang="en-US" sz="1400" spc="-1" strike="noStrike">
              <a:latin typeface="Arial"/>
            </a:endParaRPr>
          </a:p>
          <a:p>
            <a:pPr marL="219600" indent="-128160">
              <a:lnSpc>
                <a:spcPct val="100000"/>
              </a:lnSpc>
              <a:spcAft>
                <a:spcPts val="400"/>
              </a:spcAft>
              <a:buClr>
                <a:srgbClr val="000000"/>
              </a:buClr>
              <a:buFont typeface="Arial"/>
              <a:buChar char="•"/>
            </a:pPr>
            <a:r>
              <a:rPr b="0" lang="en-US" sz="1400" spc="-1" strike="noStrike">
                <a:solidFill>
                  <a:srgbClr val="252f2a"/>
                </a:solidFill>
                <a:latin typeface="Aptos"/>
                <a:ea typeface="Arial"/>
              </a:rPr>
              <a:t>Semgrep: checks for unsafe SQL patterns</a:t>
            </a:r>
            <a:endParaRPr b="0" lang="en-US" sz="1400" spc="-1" strike="noStrike">
              <a:latin typeface="Arial"/>
            </a:endParaRPr>
          </a:p>
          <a:p>
            <a:pPr marL="219600" indent="-128160">
              <a:lnSpc>
                <a:spcPct val="100000"/>
              </a:lnSpc>
              <a:spcAft>
                <a:spcPts val="400"/>
              </a:spcAft>
              <a:buClr>
                <a:srgbClr val="000000"/>
              </a:buClr>
              <a:buFont typeface="Arial"/>
              <a:buChar char="•"/>
            </a:pPr>
            <a:r>
              <a:rPr b="0" lang="en-US" sz="1400" spc="-1" strike="noStrike">
                <a:solidFill>
                  <a:srgbClr val="252f2a"/>
                </a:solidFill>
                <a:latin typeface="Aptos"/>
                <a:ea typeface="Arial"/>
              </a:rPr>
              <a:t>GoogleTest: runs the same unit tests again</a:t>
            </a:r>
            <a:endParaRPr b="0" lang="en-US" sz="1400" spc="-1" strike="noStrike">
              <a:latin typeface="Arial"/>
            </a:endParaRPr>
          </a:p>
        </p:txBody>
      </p:sp>
      <p:pic>
        <p:nvPicPr>
          <p:cNvPr id="271" name="Picture 212" descr="devenv_15csBRw4Ua.png"/>
          <p:cNvPicPr/>
          <p:nvPr/>
        </p:nvPicPr>
        <p:blipFill>
          <a:blip r:embed="rId1"/>
          <a:stretch/>
        </p:blipFill>
        <p:spPr>
          <a:xfrm>
            <a:off x="731520" y="3794760"/>
            <a:ext cx="5485320" cy="1215000"/>
          </a:xfrm>
          <a:prstGeom prst="rect">
            <a:avLst/>
          </a:prstGeom>
          <a:ln w="12700">
            <a:solidFill>
              <a:srgbClr val="c8d8cd"/>
            </a:solidFill>
            <a:round/>
          </a:ln>
        </p:spPr>
      </p:pic>
      <p:sp>
        <p:nvSpPr>
          <p:cNvPr id="272" name="TextBox 213"/>
          <p:cNvSpPr/>
          <p:nvPr/>
        </p:nvSpPr>
        <p:spPr>
          <a:xfrm>
            <a:off x="749880" y="5047560"/>
            <a:ext cx="539388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Visual Studio exercise: 0 errors, 4 warnings, 8 messages</a:t>
            </a:r>
            <a:endParaRPr b="0" lang="en-US" sz="950" spc="-1" strike="noStrike">
              <a:latin typeface="Arial"/>
            </a:endParaRPr>
          </a:p>
        </p:txBody>
      </p:sp>
      <p:pic>
        <p:nvPicPr>
          <p:cNvPr id="273" name="Picture 214" descr="image(91).png"/>
          <p:cNvPicPr/>
          <p:nvPr/>
        </p:nvPicPr>
        <p:blipFill>
          <a:blip r:embed="rId2"/>
          <a:stretch/>
        </p:blipFill>
        <p:spPr>
          <a:xfrm>
            <a:off x="6446520" y="1920240"/>
            <a:ext cx="4799520" cy="3263400"/>
          </a:xfrm>
          <a:prstGeom prst="rect">
            <a:avLst/>
          </a:prstGeom>
          <a:ln w="12700">
            <a:solidFill>
              <a:srgbClr val="c8d8cd"/>
            </a:solidFill>
            <a:round/>
          </a:ln>
        </p:spPr>
      </p:pic>
      <p:sp>
        <p:nvSpPr>
          <p:cNvPr id="274" name="TextBox 215"/>
          <p:cNvSpPr/>
          <p:nvPr/>
        </p:nvSpPr>
        <p:spPr>
          <a:xfrm>
            <a:off x="6473880" y="5239440"/>
            <a:ext cx="4662360" cy="3790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Numeric overflow exercise: safe values were false; overflow cases were true.</a:t>
            </a:r>
            <a:endParaRPr b="0" lang="en-US" sz="950" spc="-1" strike="noStrike">
              <a:latin typeface="Arial"/>
            </a:endParaRPr>
          </a:p>
        </p:txBody>
      </p:sp>
      <p:sp>
        <p:nvSpPr>
          <p:cNvPr id="275" name="TextBox 216"/>
          <p:cNvSpPr/>
          <p:nvPr/>
        </p:nvSpPr>
        <p:spPr>
          <a:xfrm>
            <a:off x="749880" y="5650920"/>
            <a:ext cx="10285920" cy="2494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050" spc="-1" strike="noStrike">
                <a:solidFill>
                  <a:srgbClr val="377c49"/>
                </a:solidFill>
                <a:latin typeface="Aptos"/>
                <a:ea typeface="Arial"/>
              </a:rPr>
              <a:t>Different tools find different problems. Green Pace should use more than one.</a:t>
            </a:r>
            <a:endParaRPr b="0" lang="en-US" sz="1050" spc="-1" strike="noStrike">
              <a:latin typeface="Arial"/>
            </a:endParaRPr>
          </a:p>
        </p:txBody>
      </p:sp>
      <p:sp>
        <p:nvSpPr>
          <p:cNvPr id="276" name="Rectangle 217"/>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7" name="Rectangle 218"/>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8" name="Rectangle 219"/>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9" name="TextBox 220"/>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80" name="TextBox 221"/>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14</a:t>
            </a:r>
            <a:endParaRPr b="0" lang="en-US" sz="900" spc="-1" strike="noStrike">
              <a:latin typeface="Arial"/>
            </a:endParaRPr>
          </a:p>
        </p:txBody>
      </p:sp>
      <p:pic>
        <p:nvPicPr>
          <p:cNvPr id="281" name="Picture 222" descr="green_pace_icon_transparent.png"/>
          <p:cNvPicPr/>
          <p:nvPr/>
        </p:nvPicPr>
        <p:blipFill>
          <a:blip r:embed="rId3"/>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RISKS AND BENEFITS</a:t>
            </a:r>
            <a:endParaRPr b="0" lang="en-US" sz="2700" spc="-1" strike="noStrike">
              <a:latin typeface="Arial"/>
            </a:endParaRPr>
          </a:p>
        </p:txBody>
      </p:sp>
      <p:sp>
        <p:nvSpPr>
          <p:cNvPr id="283" name="Rounded Rectangle 218"/>
          <p:cNvSpPr/>
          <p:nvPr/>
        </p:nvSpPr>
        <p:spPr>
          <a:xfrm>
            <a:off x="731520" y="1920240"/>
            <a:ext cx="3427920" cy="33822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000" spc="-1" strike="noStrike">
                <a:solidFill>
                  <a:srgbClr val="377c49"/>
                </a:solidFill>
                <a:latin typeface="Aptos"/>
                <a:ea typeface="Arial"/>
              </a:rPr>
              <a:t>SQL injection</a:t>
            </a:r>
            <a:endParaRPr b="0" lang="en-US" sz="2000" spc="-1" strike="noStrike">
              <a:latin typeface="Arial"/>
            </a:endParaRPr>
          </a:p>
          <a:p>
            <a:pPr>
              <a:lnSpc>
                <a:spcPct val="100000"/>
              </a:lnSpc>
            </a:pPr>
            <a:r>
              <a:rPr b="0" lang="en-US" sz="1530" spc="-1" strike="noStrike">
                <a:solidFill>
                  <a:srgbClr val="252f2a"/>
                </a:solidFill>
                <a:latin typeface="Aptos"/>
                <a:ea typeface="Arial"/>
              </a:rPr>
              <a:t>Act now: use prepared statements. Do not build SQL with user input.</a:t>
            </a:r>
            <a:br>
              <a:rPr sz="1530"/>
            </a:br>
            <a:br>
              <a:rPr sz="1530"/>
            </a:br>
            <a:r>
              <a:rPr b="0" lang="en-US" sz="1530" spc="-1" strike="noStrike">
                <a:solidFill>
                  <a:srgbClr val="252f2a"/>
                </a:solidFill>
                <a:latin typeface="Aptos"/>
                <a:ea typeface="Arial"/>
              </a:rPr>
              <a:t>Wait: bad input could reach the database.</a:t>
            </a:r>
            <a:endParaRPr b="0" lang="en-US" sz="1530" spc="-1" strike="noStrike">
              <a:latin typeface="Arial"/>
            </a:endParaRPr>
          </a:p>
        </p:txBody>
      </p:sp>
      <p:sp>
        <p:nvSpPr>
          <p:cNvPr id="284" name="Rounded Rectangle 219"/>
          <p:cNvSpPr/>
          <p:nvPr/>
        </p:nvSpPr>
        <p:spPr>
          <a:xfrm>
            <a:off x="4389120" y="1920240"/>
            <a:ext cx="3427920" cy="33822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000" spc="-1" strike="noStrike">
                <a:solidFill>
                  <a:srgbClr val="377c49"/>
                </a:solidFill>
                <a:latin typeface="Aptos"/>
                <a:ea typeface="Arial"/>
              </a:rPr>
              <a:t>Memory and bounds</a:t>
            </a:r>
            <a:endParaRPr b="0" lang="en-US" sz="2000" spc="-1" strike="noStrike">
              <a:latin typeface="Arial"/>
            </a:endParaRPr>
          </a:p>
          <a:p>
            <a:pPr>
              <a:lnSpc>
                <a:spcPct val="100000"/>
              </a:lnSpc>
            </a:pPr>
            <a:r>
              <a:rPr b="0" lang="en-US" sz="1530" spc="-1" strike="noStrike">
                <a:solidFill>
                  <a:srgbClr val="252f2a"/>
                </a:solidFill>
                <a:latin typeface="Aptos"/>
                <a:ea typeface="Arial"/>
              </a:rPr>
              <a:t>Act now: check ranges and pointers. Use safer memory handling.</a:t>
            </a:r>
            <a:br>
              <a:rPr sz="1530"/>
            </a:br>
            <a:br>
              <a:rPr sz="1530"/>
            </a:br>
            <a:r>
              <a:rPr b="0" lang="en-US" sz="1530" spc="-1" strike="noStrike">
                <a:solidFill>
                  <a:srgbClr val="252f2a"/>
                </a:solidFill>
                <a:latin typeface="Aptos"/>
                <a:ea typeface="Arial"/>
              </a:rPr>
              <a:t>Wait: crashes or bad memory access can still happen.</a:t>
            </a:r>
            <a:endParaRPr b="0" lang="en-US" sz="1530" spc="-1" strike="noStrike">
              <a:latin typeface="Arial"/>
            </a:endParaRPr>
          </a:p>
        </p:txBody>
      </p:sp>
      <p:sp>
        <p:nvSpPr>
          <p:cNvPr id="285" name="Rounded Rectangle 220"/>
          <p:cNvSpPr/>
          <p:nvPr/>
        </p:nvSpPr>
        <p:spPr>
          <a:xfrm>
            <a:off x="8046720" y="1920240"/>
            <a:ext cx="3062160" cy="33822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2000" spc="-1" strike="noStrike">
                <a:solidFill>
                  <a:srgbClr val="377c49"/>
                </a:solidFill>
                <a:latin typeface="Aptos"/>
                <a:ea typeface="Arial"/>
              </a:rPr>
              <a:t>Access and monitoring</a:t>
            </a:r>
            <a:endParaRPr b="0" lang="en-US" sz="2000" spc="-1" strike="noStrike">
              <a:latin typeface="Arial"/>
            </a:endParaRPr>
          </a:p>
          <a:p>
            <a:pPr>
              <a:lnSpc>
                <a:spcPct val="100000"/>
              </a:lnSpc>
            </a:pPr>
            <a:r>
              <a:rPr b="0" lang="en-US" sz="1500" spc="-1" strike="noStrike">
                <a:solidFill>
                  <a:srgbClr val="252f2a"/>
                </a:solidFill>
                <a:latin typeface="Aptos"/>
                <a:ea typeface="Arial"/>
              </a:rPr>
              <a:t>Act now: use MFA, limited access, and useful logs.</a:t>
            </a:r>
            <a:br>
              <a:rPr sz="1500"/>
            </a:br>
            <a:br>
              <a:rPr sz="1500"/>
            </a:br>
            <a:r>
              <a:rPr b="0" lang="en-US" sz="1500" spc="-1" strike="noStrike">
                <a:solidFill>
                  <a:srgbClr val="252f2a"/>
                </a:solidFill>
                <a:latin typeface="Aptos"/>
                <a:ea typeface="Arial"/>
              </a:rPr>
              <a:t>Wait: a stolen account may be harder to stop.</a:t>
            </a:r>
            <a:endParaRPr b="0" lang="en-US" sz="1500" spc="-1" strike="noStrike">
              <a:latin typeface="Arial"/>
            </a:endParaRPr>
          </a:p>
        </p:txBody>
      </p:sp>
      <p:sp>
        <p:nvSpPr>
          <p:cNvPr id="286" name="TextBox 221"/>
          <p:cNvSpPr/>
          <p:nvPr/>
        </p:nvSpPr>
        <p:spPr>
          <a:xfrm>
            <a:off x="768240" y="5577840"/>
            <a:ext cx="10285920" cy="2494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1050" spc="-1" strike="noStrike">
                <a:solidFill>
                  <a:srgbClr val="64756b"/>
                </a:solidFill>
                <a:latin typeface="Aptos"/>
                <a:ea typeface="Arial"/>
              </a:rPr>
              <a:t>Fix Level 5 and Level 4 problems first. Then make the checks automatic.</a:t>
            </a:r>
            <a:endParaRPr b="0" lang="en-US" sz="1050" spc="-1" strike="noStrike">
              <a:latin typeface="Arial"/>
            </a:endParaRPr>
          </a:p>
        </p:txBody>
      </p:sp>
      <p:sp>
        <p:nvSpPr>
          <p:cNvPr id="287" name="Rectangle 224"/>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8" name="Rectangle 225"/>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9" name="Rectangle 226"/>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0" name="TextBox 227"/>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291" name="TextBox 228"/>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15</a:t>
            </a:r>
            <a:endParaRPr b="0" lang="en-US" sz="900" spc="-1" strike="noStrike">
              <a:latin typeface="Arial"/>
            </a:endParaRPr>
          </a:p>
        </p:txBody>
      </p:sp>
      <p:pic>
        <p:nvPicPr>
          <p:cNvPr id="292" name="Picture 229"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293"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RECOMMENDATIONS: CURRENT GAPS</a:t>
            </a:r>
            <a:endParaRPr b="0" lang="en-US" sz="2700" spc="-1" strike="noStrike">
              <a:latin typeface="Arial"/>
            </a:endParaRPr>
          </a:p>
        </p:txBody>
      </p:sp>
      <p:sp>
        <p:nvSpPr>
          <p:cNvPr id="294" name="Rounded Rectangle 225"/>
          <p:cNvSpPr/>
          <p:nvPr/>
        </p:nvSpPr>
        <p:spPr>
          <a:xfrm>
            <a:off x="731520" y="1874520"/>
            <a:ext cx="5165280" cy="1324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800" spc="-1" strike="noStrike">
                <a:solidFill>
                  <a:srgbClr val="377c49"/>
                </a:solidFill>
                <a:latin typeface="Aptos"/>
                <a:ea typeface="Arial"/>
              </a:rPr>
              <a:t>Dependency risk</a:t>
            </a:r>
            <a:endParaRPr b="0" lang="en-US" sz="1800" spc="-1" strike="noStrike">
              <a:latin typeface="Arial"/>
            </a:endParaRPr>
          </a:p>
          <a:p>
            <a:pPr>
              <a:lnSpc>
                <a:spcPct val="100000"/>
              </a:lnSpc>
            </a:pPr>
            <a:r>
              <a:rPr b="0" lang="en-US" sz="1440" spc="-1" strike="noStrike">
                <a:solidFill>
                  <a:srgbClr val="252f2a"/>
                </a:solidFill>
                <a:latin typeface="Aptos"/>
                <a:ea typeface="Arial"/>
              </a:rPr>
              <a:t>Add a tool that checks third-party libraries and keep an SBOM list.</a:t>
            </a:r>
            <a:endParaRPr b="0" lang="en-US" sz="1440" spc="-1" strike="noStrike">
              <a:latin typeface="Arial"/>
            </a:endParaRPr>
          </a:p>
        </p:txBody>
      </p:sp>
      <p:sp>
        <p:nvSpPr>
          <p:cNvPr id="295" name="Rounded Rectangle 226"/>
          <p:cNvSpPr/>
          <p:nvPr/>
        </p:nvSpPr>
        <p:spPr>
          <a:xfrm>
            <a:off x="6263640" y="1874520"/>
            <a:ext cx="5165280" cy="1324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800" spc="-1" strike="noStrike">
                <a:solidFill>
                  <a:srgbClr val="377c49"/>
                </a:solidFill>
                <a:latin typeface="Aptos"/>
                <a:ea typeface="Arial"/>
              </a:rPr>
              <a:t>Key management</a:t>
            </a:r>
            <a:endParaRPr b="0" lang="en-US" sz="1800" spc="-1" strike="noStrike">
              <a:latin typeface="Arial"/>
            </a:endParaRPr>
          </a:p>
          <a:p>
            <a:pPr>
              <a:lnSpc>
                <a:spcPct val="100000"/>
              </a:lnSpc>
            </a:pPr>
            <a:r>
              <a:rPr b="0" lang="en-US" sz="1440" spc="-1" strike="noStrike">
                <a:solidFill>
                  <a:srgbClr val="252f2a"/>
                </a:solidFill>
                <a:latin typeface="Aptos"/>
                <a:ea typeface="Arial"/>
              </a:rPr>
              <a:t>Write clear rules for where keys are stored, when they are changed, and when they are removed.</a:t>
            </a:r>
            <a:endParaRPr b="0" lang="en-US" sz="1440" spc="-1" strike="noStrike">
              <a:latin typeface="Arial"/>
            </a:endParaRPr>
          </a:p>
        </p:txBody>
      </p:sp>
      <p:sp>
        <p:nvSpPr>
          <p:cNvPr id="296" name="Rounded Rectangle 227"/>
          <p:cNvSpPr/>
          <p:nvPr/>
        </p:nvSpPr>
        <p:spPr>
          <a:xfrm>
            <a:off x="731520" y="3474720"/>
            <a:ext cx="5165280" cy="1324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800" spc="-1" strike="noStrike">
                <a:solidFill>
                  <a:srgbClr val="377c49"/>
                </a:solidFill>
                <a:latin typeface="Aptos"/>
                <a:ea typeface="Arial"/>
              </a:rPr>
              <a:t>Response timing</a:t>
            </a:r>
            <a:endParaRPr b="0" lang="en-US" sz="1800" spc="-1" strike="noStrike">
              <a:latin typeface="Arial"/>
            </a:endParaRPr>
          </a:p>
          <a:p>
            <a:pPr>
              <a:lnSpc>
                <a:spcPct val="100000"/>
              </a:lnSpc>
            </a:pPr>
            <a:r>
              <a:rPr b="0" lang="en-US" sz="1440" spc="-1" strike="noStrike">
                <a:solidFill>
                  <a:srgbClr val="252f2a"/>
                </a:solidFill>
                <a:latin typeface="Aptos"/>
                <a:ea typeface="Arial"/>
              </a:rPr>
              <a:t>Set deadlines for fixing problems based on risk.</a:t>
            </a:r>
            <a:endParaRPr b="0" lang="en-US" sz="1440" spc="-1" strike="noStrike">
              <a:latin typeface="Arial"/>
            </a:endParaRPr>
          </a:p>
        </p:txBody>
      </p:sp>
      <p:sp>
        <p:nvSpPr>
          <p:cNvPr id="297" name="Rounded Rectangle 228"/>
          <p:cNvSpPr/>
          <p:nvPr/>
        </p:nvSpPr>
        <p:spPr>
          <a:xfrm>
            <a:off x="6263640" y="3474720"/>
            <a:ext cx="5165280" cy="1324800"/>
          </a:xfrm>
          <a:prstGeom prst="roundRect">
            <a:avLst>
              <a:gd name="adj" fmla="val 16667"/>
            </a:avLst>
          </a:prstGeom>
          <a:solidFill>
            <a:srgbClr val="ffffff"/>
          </a:solidFill>
          <a:ln w="12700">
            <a:solidFill>
              <a:srgbClr val="c8d8c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64520" rIns="164520" tIns="109800" bIns="109800" anchor="ctr">
            <a:noAutofit/>
          </a:bodyPr>
          <a:p>
            <a:pPr algn="ctr">
              <a:lnSpc>
                <a:spcPct val="100000"/>
              </a:lnSpc>
              <a:spcAft>
                <a:spcPts val="400"/>
              </a:spcAft>
            </a:pPr>
            <a:r>
              <a:rPr b="1" lang="en-US" sz="1800" spc="-1" strike="noStrike">
                <a:solidFill>
                  <a:srgbClr val="377c49"/>
                </a:solidFill>
                <a:latin typeface="Aptos"/>
                <a:ea typeface="Arial"/>
              </a:rPr>
              <a:t>Authentication monitoring</a:t>
            </a:r>
            <a:endParaRPr b="0" lang="en-US" sz="1800" spc="-1" strike="noStrike">
              <a:latin typeface="Arial"/>
            </a:endParaRPr>
          </a:p>
          <a:p>
            <a:pPr>
              <a:lnSpc>
                <a:spcPct val="100000"/>
              </a:lnSpc>
            </a:pPr>
            <a:r>
              <a:rPr b="0" lang="en-US" sz="1440" spc="-1" strike="noStrike">
                <a:solidFill>
                  <a:srgbClr val="252f2a"/>
                </a:solidFill>
                <a:latin typeface="Aptos"/>
                <a:ea typeface="Arial"/>
              </a:rPr>
              <a:t>Require MFA for higher-risk access and alert on strange login activity.</a:t>
            </a:r>
            <a:endParaRPr b="0" lang="en-US" sz="1440" spc="-1" strike="noStrike">
              <a:latin typeface="Arial"/>
            </a:endParaRPr>
          </a:p>
        </p:txBody>
      </p:sp>
      <p:sp>
        <p:nvSpPr>
          <p:cNvPr id="298" name="TextBox 229"/>
          <p:cNvSpPr/>
          <p:nvPr/>
        </p:nvSpPr>
        <p:spPr>
          <a:xfrm>
            <a:off x="768240" y="5230440"/>
            <a:ext cx="10240200" cy="40932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1050" spc="-1" strike="noStrike">
                <a:solidFill>
                  <a:srgbClr val="64756b"/>
                </a:solidFill>
                <a:latin typeface="Aptos"/>
                <a:ea typeface="Arial"/>
              </a:rPr>
              <a:t>Real-world example: a 2025 investigation of 23andMe found problems with MFA and detecting credential-stuffing attacks. The attack continued for months. (OPC &amp; ICO, 2025)</a:t>
            </a:r>
            <a:endParaRPr b="0" lang="en-US" sz="1050" spc="-1" strike="noStrike">
              <a:latin typeface="Arial"/>
            </a:endParaRPr>
          </a:p>
        </p:txBody>
      </p:sp>
      <p:sp>
        <p:nvSpPr>
          <p:cNvPr id="299" name="Rectangle 232"/>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0" name="Rectangle 233"/>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1" name="Rectangle 234"/>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2" name="TextBox 235"/>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303" name="TextBox 236"/>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16</a:t>
            </a:r>
            <a:endParaRPr b="0" lang="en-US" sz="900" spc="-1" strike="noStrike">
              <a:latin typeface="Arial"/>
            </a:endParaRPr>
          </a:p>
        </p:txBody>
      </p:sp>
      <p:pic>
        <p:nvPicPr>
          <p:cNvPr id="304" name="Picture 237"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305"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CONCLUSION: KEEP THE POLICY CURRENT</a:t>
            </a:r>
            <a:endParaRPr b="0" lang="en-US" sz="2700" spc="-1" strike="noStrike">
              <a:latin typeface="Arial"/>
            </a:endParaRPr>
          </a:p>
        </p:txBody>
      </p:sp>
      <p:sp>
        <p:nvSpPr>
          <p:cNvPr id="306" name="TextBox 232"/>
          <p:cNvSpPr/>
          <p:nvPr/>
        </p:nvSpPr>
        <p:spPr>
          <a:xfrm>
            <a:off x="822960" y="1920240"/>
            <a:ext cx="10057320" cy="1601640"/>
          </a:xfrm>
          <a:prstGeom prst="rect">
            <a:avLst/>
          </a:prstGeom>
          <a:noFill/>
          <a:ln w="0">
            <a:noFill/>
          </a:ln>
        </p:spPr>
        <p:style>
          <a:lnRef idx="0"/>
          <a:fillRef idx="0"/>
          <a:effectRef idx="0"/>
          <a:fontRef idx="minor"/>
        </p:style>
        <p:txBody>
          <a:bodyPr lIns="36720" rIns="36720" tIns="27360" bIns="27360" anchor="t">
            <a:spAutoFit/>
          </a:bodyPr>
          <a:p>
            <a:pPr marL="219600" indent="-128160">
              <a:lnSpc>
                <a:spcPct val="100000"/>
              </a:lnSpc>
              <a:spcAft>
                <a:spcPts val="799"/>
              </a:spcAft>
              <a:buClr>
                <a:srgbClr val="000000"/>
              </a:buClr>
              <a:buFont typeface="Arial"/>
              <a:buChar char="•"/>
            </a:pPr>
            <a:r>
              <a:rPr b="0" lang="en-US" sz="1500" spc="-1" strike="noStrike">
                <a:solidFill>
                  <a:srgbClr val="252f2a"/>
                </a:solidFill>
                <a:latin typeface="Aptos"/>
                <a:ea typeface="Arial"/>
              </a:rPr>
              <a:t>Keep SEI CERT as the C/C++ coding rules.</a:t>
            </a:r>
            <a:endParaRPr b="0" lang="en-US" sz="1500" spc="-1" strike="noStrike">
              <a:latin typeface="Arial"/>
            </a:endParaRPr>
          </a:p>
          <a:p>
            <a:pPr marL="219600" indent="-128160">
              <a:lnSpc>
                <a:spcPct val="100000"/>
              </a:lnSpc>
              <a:spcAft>
                <a:spcPts val="799"/>
              </a:spcAft>
              <a:buClr>
                <a:srgbClr val="000000"/>
              </a:buClr>
              <a:buFont typeface="Arial"/>
              <a:buChar char="•"/>
            </a:pPr>
            <a:r>
              <a:rPr b="0" lang="en-US" sz="1500" spc="-1" strike="noStrike">
                <a:solidFill>
                  <a:srgbClr val="252f2a"/>
                </a:solidFill>
                <a:latin typeface="Aptos"/>
                <a:ea typeface="Arial"/>
              </a:rPr>
              <a:t>Use NIST SSDF for the secure development process.</a:t>
            </a:r>
            <a:endParaRPr b="0" lang="en-US" sz="1500" spc="-1" strike="noStrike">
              <a:latin typeface="Arial"/>
            </a:endParaRPr>
          </a:p>
          <a:p>
            <a:pPr marL="219600" indent="-128160">
              <a:lnSpc>
                <a:spcPct val="100000"/>
              </a:lnSpc>
              <a:spcAft>
                <a:spcPts val="799"/>
              </a:spcAft>
              <a:buClr>
                <a:srgbClr val="000000"/>
              </a:buClr>
              <a:buFont typeface="Arial"/>
              <a:buChar char="•"/>
            </a:pPr>
            <a:r>
              <a:rPr b="0" lang="en-US" sz="1500" spc="-1" strike="noStrike">
                <a:solidFill>
                  <a:srgbClr val="252f2a"/>
                </a:solidFill>
                <a:latin typeface="Aptos"/>
                <a:ea typeface="Arial"/>
              </a:rPr>
              <a:t>Use OWASP for web problems such as injection and login security.</a:t>
            </a:r>
            <a:endParaRPr b="0" lang="en-US" sz="1500" spc="-1" strike="noStrike">
              <a:latin typeface="Arial"/>
            </a:endParaRPr>
          </a:p>
          <a:p>
            <a:pPr marL="219600" indent="-128160">
              <a:lnSpc>
                <a:spcPct val="100000"/>
              </a:lnSpc>
              <a:spcAft>
                <a:spcPts val="799"/>
              </a:spcAft>
              <a:buClr>
                <a:srgbClr val="000000"/>
              </a:buClr>
              <a:buFont typeface="Arial"/>
              <a:buChar char="•"/>
            </a:pPr>
            <a:r>
              <a:rPr b="0" lang="en-US" sz="1500" spc="-1" strike="noStrike">
                <a:solidFill>
                  <a:srgbClr val="252f2a"/>
                </a:solidFill>
                <a:latin typeface="Aptos"/>
                <a:ea typeface="Arial"/>
              </a:rPr>
              <a:t>Add dependency scans, secret scans, and more security tests to CI/CD.</a:t>
            </a:r>
            <a:endParaRPr b="0" lang="en-US" sz="1500" spc="-1" strike="noStrike">
              <a:latin typeface="Arial"/>
            </a:endParaRPr>
          </a:p>
          <a:p>
            <a:pPr marL="219600" indent="-128160">
              <a:lnSpc>
                <a:spcPct val="100000"/>
              </a:lnSpc>
              <a:spcAft>
                <a:spcPts val="799"/>
              </a:spcAft>
              <a:buClr>
                <a:srgbClr val="000000"/>
              </a:buClr>
              <a:buFont typeface="Arial"/>
              <a:buChar char="•"/>
            </a:pPr>
            <a:r>
              <a:rPr b="0" lang="en-US" sz="1500" spc="-1" strike="noStrike">
                <a:solidFill>
                  <a:srgbClr val="252f2a"/>
                </a:solidFill>
                <a:latin typeface="Aptos"/>
                <a:ea typeface="Arial"/>
              </a:rPr>
              <a:t>Review the policy every year and after a major incident or big tool change.</a:t>
            </a:r>
            <a:endParaRPr b="0" lang="en-US" sz="1500" spc="-1" strike="noStrike">
              <a:latin typeface="Arial"/>
            </a:endParaRPr>
          </a:p>
        </p:txBody>
      </p:sp>
      <p:sp>
        <p:nvSpPr>
          <p:cNvPr id="307" name="TextBox 233"/>
          <p:cNvSpPr/>
          <p:nvPr/>
        </p:nvSpPr>
        <p:spPr>
          <a:xfrm>
            <a:off x="841320" y="5532120"/>
            <a:ext cx="1005732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1" lang="en-US" sz="950" spc="-1" strike="noStrike">
                <a:solidFill>
                  <a:srgbClr val="64756b"/>
                </a:solidFill>
                <a:latin typeface="Aptos"/>
                <a:ea typeface="Arial"/>
              </a:rPr>
              <a:t>The policy and the tools should follow the same security rules.</a:t>
            </a:r>
            <a:endParaRPr b="0" lang="en-US" sz="950" spc="-1" strike="noStrike">
              <a:latin typeface="Arial"/>
            </a:endParaRPr>
          </a:p>
        </p:txBody>
      </p:sp>
      <p:sp>
        <p:nvSpPr>
          <p:cNvPr id="308" name="TextBox 234"/>
          <p:cNvSpPr/>
          <p:nvPr/>
        </p:nvSpPr>
        <p:spPr>
          <a:xfrm>
            <a:off x="841320" y="6016680"/>
            <a:ext cx="9874440" cy="23436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950" spc="-1" strike="noStrike">
                <a:solidFill>
                  <a:srgbClr val="64756b"/>
                </a:solidFill>
                <a:latin typeface="Aptos"/>
                <a:ea typeface="Arial"/>
              </a:rPr>
              <a:t>NIST SSDF says security practices should be part of the software development life cycle. (NIST, 2022)</a:t>
            </a:r>
            <a:endParaRPr b="0" lang="en-US" sz="950" spc="-1" strike="noStrike">
              <a:latin typeface="Arial"/>
            </a:endParaRPr>
          </a:p>
        </p:txBody>
      </p:sp>
      <p:sp>
        <p:nvSpPr>
          <p:cNvPr id="309" name="Rectangle 238"/>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0" name="Rectangle 239"/>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1" name="Rectangle 240"/>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2" name="TextBox 241"/>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313" name="TextBox 242"/>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17</a:t>
            </a:r>
            <a:endParaRPr b="0" lang="en-US" sz="900" spc="-1" strike="noStrike">
              <a:latin typeface="Arial"/>
            </a:endParaRPr>
          </a:p>
        </p:txBody>
      </p:sp>
      <p:pic>
        <p:nvPicPr>
          <p:cNvPr id="314" name="Picture 243"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f7f9f6"/>
        </a:solidFill>
      </p:bgPr>
    </p:bg>
    <p:spTree>
      <p:nvGrpSpPr>
        <p:cNvPr id="1" name=""/>
        <p:cNvGrpSpPr/>
        <p:nvPr/>
      </p:nvGrpSpPr>
      <p:grpSpPr>
        <a:xfrm>
          <a:off x="0" y="0"/>
          <a:ext cx="0" cy="0"/>
          <a:chOff x="0" y="0"/>
          <a:chExt cx="0" cy="0"/>
        </a:xfrm>
      </p:grpSpPr>
      <p:sp>
        <p:nvSpPr>
          <p:cNvPr id="315" name="PlaceHolder 1"/>
          <p:cNvSpPr>
            <a:spLocks noGrp="1"/>
          </p:cNvSpPr>
          <p:nvPr>
            <p:ph type="title"/>
          </p:nvPr>
        </p:nvSpPr>
        <p:spPr>
          <a:xfrm>
            <a:off x="621720" y="347400"/>
            <a:ext cx="10698120" cy="529920"/>
          </a:xfrm>
          <a:prstGeom prst="rect">
            <a:avLst/>
          </a:prstGeom>
          <a:noFill/>
          <a:ln w="0">
            <a:noFill/>
          </a:ln>
        </p:spPr>
        <p:txBody>
          <a:bodyPr lIns="0" rIns="0" tIns="0" bIns="0" anchor="ctr">
            <a:normAutofit/>
          </a:bodyPr>
          <a:p>
            <a:pPr indent="0">
              <a:lnSpc>
                <a:spcPct val="90000"/>
              </a:lnSpc>
              <a:buNone/>
              <a:tabLst>
                <a:tab algn="l" pos="0"/>
              </a:tabLst>
            </a:pPr>
            <a:r>
              <a:rPr b="1" lang="en-US" sz="2700" spc="-1" strike="noStrike">
                <a:solidFill>
                  <a:srgbClr val="377c49"/>
                </a:solidFill>
                <a:latin typeface="Aptos"/>
                <a:ea typeface="Century Gothic"/>
              </a:rPr>
              <a:t>REFERENCES</a:t>
            </a:r>
            <a:endParaRPr b="0" lang="en-US" sz="2700" spc="-1" strike="noStrike">
              <a:latin typeface="Arial"/>
            </a:endParaRPr>
          </a:p>
        </p:txBody>
      </p:sp>
      <p:sp>
        <p:nvSpPr>
          <p:cNvPr id="316" name="TextBox 239"/>
          <p:cNvSpPr/>
          <p:nvPr/>
        </p:nvSpPr>
        <p:spPr>
          <a:xfrm>
            <a:off x="713160" y="1783080"/>
            <a:ext cx="5211000" cy="196344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880" spc="-1" strike="noStrike">
                <a:solidFill>
                  <a:srgbClr val="252f2a"/>
                </a:solidFill>
                <a:latin typeface="Aptos"/>
                <a:ea typeface="Arial"/>
              </a:rPr>
              <a:t>Carnegie Mellon University Software Engineering Institute. (n.d.). SEI CERT C++ Coding Standard.</a:t>
            </a:r>
            <a:endParaRPr b="0" lang="en-US" sz="880" spc="-1" strike="noStrike">
              <a:latin typeface="Arial"/>
            </a:endParaRPr>
          </a:p>
          <a:p>
            <a:pPr>
              <a:lnSpc>
                <a:spcPct val="100000"/>
              </a:lnSpc>
            </a:pPr>
            <a:r>
              <a:rPr b="0" lang="en-US" sz="880" spc="-1" strike="noStrike">
                <a:solidFill>
                  <a:srgbClr val="252f2a"/>
                </a:solidFill>
                <a:latin typeface="Aptos"/>
                <a:ea typeface="Arial"/>
              </a:rPr>
              <a:t>https://wiki.sei.cmu.edu/confluence/display/cplusplus/SEI+CERT+C%2B%2B+Coding+Standard</a:t>
            </a:r>
            <a:endParaRPr b="0" lang="en-US" sz="880" spc="-1" strike="noStrike">
              <a:latin typeface="Arial"/>
            </a:endParaRPr>
          </a:p>
          <a:p>
            <a:pPr>
              <a:lnSpc>
                <a:spcPct val="100000"/>
              </a:lnSpc>
            </a:pPr>
            <a:endParaRPr b="0" lang="en-US" sz="1170" spc="-1" strike="noStrike">
              <a:latin typeface="Arial"/>
            </a:endParaRPr>
          </a:p>
          <a:p>
            <a:pPr>
              <a:lnSpc>
                <a:spcPct val="100000"/>
              </a:lnSpc>
            </a:pPr>
            <a:r>
              <a:rPr b="0" lang="en-US" sz="880" spc="-1" strike="noStrike">
                <a:solidFill>
                  <a:srgbClr val="252f2a"/>
                </a:solidFill>
                <a:latin typeface="Aptos"/>
                <a:ea typeface="Arial"/>
              </a:rPr>
              <a:t>Cppcheck. (n.d.). Cppcheck manual.</a:t>
            </a:r>
            <a:endParaRPr b="0" lang="en-US" sz="880" spc="-1" strike="noStrike">
              <a:latin typeface="Arial"/>
            </a:endParaRPr>
          </a:p>
          <a:p>
            <a:pPr>
              <a:lnSpc>
                <a:spcPct val="100000"/>
              </a:lnSpc>
            </a:pPr>
            <a:r>
              <a:rPr b="0" lang="en-US" sz="880" spc="-1" strike="noStrike">
                <a:solidFill>
                  <a:srgbClr val="252f2a"/>
                </a:solidFill>
                <a:latin typeface="Aptos"/>
                <a:ea typeface="Arial"/>
              </a:rPr>
              <a:t>https://cppcheck.sourceforge.io/manual.html</a:t>
            </a:r>
            <a:endParaRPr b="0" lang="en-US" sz="880" spc="-1" strike="noStrike">
              <a:latin typeface="Arial"/>
            </a:endParaRPr>
          </a:p>
          <a:p>
            <a:pPr>
              <a:lnSpc>
                <a:spcPct val="100000"/>
              </a:lnSpc>
            </a:pPr>
            <a:endParaRPr b="0" lang="en-US" sz="1170" spc="-1" strike="noStrike">
              <a:latin typeface="Arial"/>
            </a:endParaRPr>
          </a:p>
          <a:p>
            <a:pPr>
              <a:lnSpc>
                <a:spcPct val="100000"/>
              </a:lnSpc>
            </a:pPr>
            <a:r>
              <a:rPr b="0" lang="en-US" sz="880" spc="-1" strike="noStrike">
                <a:solidFill>
                  <a:srgbClr val="252f2a"/>
                </a:solidFill>
                <a:latin typeface="Aptos"/>
                <a:ea typeface="Arial"/>
              </a:rPr>
              <a:t>Google. (n.d.). GoogleTest primer.</a:t>
            </a:r>
            <a:endParaRPr b="0" lang="en-US" sz="880" spc="-1" strike="noStrike">
              <a:latin typeface="Arial"/>
            </a:endParaRPr>
          </a:p>
          <a:p>
            <a:pPr>
              <a:lnSpc>
                <a:spcPct val="100000"/>
              </a:lnSpc>
            </a:pPr>
            <a:r>
              <a:rPr b="0" lang="en-US" sz="880" spc="-1" strike="noStrike">
                <a:solidFill>
                  <a:srgbClr val="252f2a"/>
                </a:solidFill>
                <a:latin typeface="Aptos"/>
                <a:ea typeface="Arial"/>
              </a:rPr>
              <a:t>https://google.github.io/googletest/primer.html</a:t>
            </a:r>
            <a:endParaRPr b="0" lang="en-US" sz="880" spc="-1" strike="noStrike">
              <a:latin typeface="Arial"/>
            </a:endParaRPr>
          </a:p>
          <a:p>
            <a:pPr>
              <a:lnSpc>
                <a:spcPct val="100000"/>
              </a:lnSpc>
            </a:pPr>
            <a:endParaRPr b="0" lang="en-US" sz="1170" spc="-1" strike="noStrike">
              <a:latin typeface="Arial"/>
            </a:endParaRPr>
          </a:p>
          <a:p>
            <a:pPr>
              <a:lnSpc>
                <a:spcPct val="100000"/>
              </a:lnSpc>
            </a:pPr>
            <a:r>
              <a:rPr b="0" lang="en-US" sz="880" spc="-1" strike="noStrike">
                <a:solidFill>
                  <a:srgbClr val="252f2a"/>
                </a:solidFill>
                <a:latin typeface="Aptos"/>
                <a:ea typeface="Arial"/>
              </a:rPr>
              <a:t>Microsoft. (n.d.). C++ code analysis warnings.</a:t>
            </a:r>
            <a:endParaRPr b="0" lang="en-US" sz="880" spc="-1" strike="noStrike">
              <a:latin typeface="Arial"/>
            </a:endParaRPr>
          </a:p>
          <a:p>
            <a:pPr>
              <a:lnSpc>
                <a:spcPct val="100000"/>
              </a:lnSpc>
            </a:pPr>
            <a:r>
              <a:rPr b="0" lang="en-US" sz="880" spc="-1" strike="noStrike">
                <a:solidFill>
                  <a:srgbClr val="252f2a"/>
                </a:solidFill>
                <a:latin typeface="Aptos"/>
                <a:ea typeface="Arial"/>
              </a:rPr>
              <a:t>https://learn.microsoft.com/en-us/cpp/code-quality/</a:t>
            </a:r>
            <a:endParaRPr b="0" lang="en-US" sz="880" spc="-1" strike="noStrike">
              <a:latin typeface="Arial"/>
            </a:endParaRPr>
          </a:p>
        </p:txBody>
      </p:sp>
      <p:sp>
        <p:nvSpPr>
          <p:cNvPr id="317" name="TextBox 240"/>
          <p:cNvSpPr/>
          <p:nvPr/>
        </p:nvSpPr>
        <p:spPr>
          <a:xfrm>
            <a:off x="6126480" y="1783080"/>
            <a:ext cx="4890960" cy="2074680"/>
          </a:xfrm>
          <a:prstGeom prst="rect">
            <a:avLst/>
          </a:prstGeom>
          <a:noFill/>
          <a:ln w="0">
            <a:noFill/>
          </a:ln>
        </p:spPr>
        <p:style>
          <a:lnRef idx="0"/>
          <a:fillRef idx="0"/>
          <a:effectRef idx="0"/>
          <a:fontRef idx="minor"/>
        </p:style>
        <p:txBody>
          <a:bodyPr lIns="45720" rIns="45720" tIns="45000" bIns="45000" anchor="t">
            <a:spAutoFit/>
          </a:bodyPr>
          <a:p>
            <a:pPr>
              <a:lnSpc>
                <a:spcPct val="100000"/>
              </a:lnSpc>
            </a:pPr>
            <a:r>
              <a:rPr b="0" lang="en-US" sz="880" spc="-1" strike="noStrike">
                <a:solidFill>
                  <a:srgbClr val="252f2a"/>
                </a:solidFill>
                <a:latin typeface="Aptos"/>
                <a:ea typeface="Arial"/>
              </a:rPr>
              <a:t>National Institute of Standards and Technology. (2022). Secure Software Development Framework (SSDF) Version 1.1 (NIST SP 800-218).</a:t>
            </a:r>
            <a:endParaRPr b="0" lang="en-US" sz="880" spc="-1" strike="noStrike">
              <a:latin typeface="Arial"/>
            </a:endParaRPr>
          </a:p>
          <a:p>
            <a:pPr>
              <a:lnSpc>
                <a:spcPct val="100000"/>
              </a:lnSpc>
            </a:pPr>
            <a:r>
              <a:rPr b="0" lang="en-US" sz="880" spc="-1" strike="noStrike">
                <a:solidFill>
                  <a:srgbClr val="252f2a"/>
                </a:solidFill>
                <a:latin typeface="Aptos"/>
                <a:ea typeface="Arial"/>
              </a:rPr>
              <a:t>https://doi.org/10.6028/NIST.SP.800-218</a:t>
            </a:r>
            <a:endParaRPr b="0" lang="en-US" sz="880" spc="-1" strike="noStrike">
              <a:latin typeface="Arial"/>
            </a:endParaRPr>
          </a:p>
          <a:p>
            <a:pPr>
              <a:lnSpc>
                <a:spcPct val="100000"/>
              </a:lnSpc>
            </a:pPr>
            <a:endParaRPr b="0" lang="en-US" sz="1120" spc="-1" strike="noStrike">
              <a:latin typeface="Arial"/>
            </a:endParaRPr>
          </a:p>
          <a:p>
            <a:pPr>
              <a:lnSpc>
                <a:spcPct val="100000"/>
              </a:lnSpc>
            </a:pPr>
            <a:r>
              <a:rPr b="0" lang="en-US" sz="880" spc="-1" strike="noStrike">
                <a:solidFill>
                  <a:srgbClr val="252f2a"/>
                </a:solidFill>
                <a:latin typeface="Aptos"/>
                <a:ea typeface="Arial"/>
              </a:rPr>
              <a:t>OWASP Foundation. (2025). A05: Injection. OWASP Top 10:2025.</a:t>
            </a:r>
            <a:endParaRPr b="0" lang="en-US" sz="880" spc="-1" strike="noStrike">
              <a:latin typeface="Arial"/>
            </a:endParaRPr>
          </a:p>
          <a:p>
            <a:pPr>
              <a:lnSpc>
                <a:spcPct val="100000"/>
              </a:lnSpc>
            </a:pPr>
            <a:r>
              <a:rPr b="0" lang="en-US" sz="880" spc="-1" strike="noStrike">
                <a:solidFill>
                  <a:srgbClr val="252f2a"/>
                </a:solidFill>
                <a:latin typeface="Aptos"/>
                <a:ea typeface="Arial"/>
              </a:rPr>
              <a:t>https://owasp.org/Top10/2025/A05_2025-Injection/</a:t>
            </a:r>
            <a:endParaRPr b="0" lang="en-US" sz="880" spc="-1" strike="noStrike">
              <a:latin typeface="Arial"/>
            </a:endParaRPr>
          </a:p>
          <a:p>
            <a:pPr>
              <a:lnSpc>
                <a:spcPct val="100000"/>
              </a:lnSpc>
            </a:pPr>
            <a:endParaRPr b="0" lang="en-US" sz="1120" spc="-1" strike="noStrike">
              <a:latin typeface="Arial"/>
            </a:endParaRPr>
          </a:p>
          <a:p>
            <a:pPr>
              <a:lnSpc>
                <a:spcPct val="100000"/>
              </a:lnSpc>
            </a:pPr>
            <a:r>
              <a:rPr b="0" lang="en-US" sz="880" spc="-1" strike="noStrike">
                <a:solidFill>
                  <a:srgbClr val="252f2a"/>
                </a:solidFill>
                <a:latin typeface="Aptos"/>
                <a:ea typeface="Arial"/>
              </a:rPr>
              <a:t>Office of the Privacy Commissioner of Canada &amp; Information Commissioner’s Office. (2025). Joint investigation into a data breach at 23andMe.</a:t>
            </a:r>
            <a:endParaRPr b="0" lang="en-US" sz="880" spc="-1" strike="noStrike">
              <a:latin typeface="Arial"/>
            </a:endParaRPr>
          </a:p>
          <a:p>
            <a:pPr>
              <a:lnSpc>
                <a:spcPct val="100000"/>
              </a:lnSpc>
            </a:pPr>
            <a:r>
              <a:rPr b="0" lang="en-US" sz="880" spc="-1" strike="noStrike">
                <a:solidFill>
                  <a:srgbClr val="252f2a"/>
                </a:solidFill>
                <a:latin typeface="Aptos"/>
                <a:ea typeface="Arial"/>
              </a:rPr>
              <a:t>https://www.priv.gc.ca/en/opc-actions-and-decisions/investigations/investigations-into-businesses/2025/pipeda-2025-001/</a:t>
            </a:r>
            <a:endParaRPr b="0" lang="en-US" sz="880" spc="-1" strike="noStrike">
              <a:latin typeface="Arial"/>
            </a:endParaRPr>
          </a:p>
          <a:p>
            <a:pPr>
              <a:lnSpc>
                <a:spcPct val="100000"/>
              </a:lnSpc>
            </a:pPr>
            <a:endParaRPr b="0" lang="en-US" sz="1120" spc="-1" strike="noStrike">
              <a:latin typeface="Arial"/>
            </a:endParaRPr>
          </a:p>
          <a:p>
            <a:pPr>
              <a:lnSpc>
                <a:spcPct val="100000"/>
              </a:lnSpc>
            </a:pPr>
            <a:r>
              <a:rPr b="0" lang="en-US" sz="880" spc="-1" strike="noStrike">
                <a:solidFill>
                  <a:srgbClr val="252f2a"/>
                </a:solidFill>
                <a:latin typeface="Aptos"/>
                <a:ea typeface="Arial"/>
              </a:rPr>
              <a:t>Green Pace. (2026). Green Pace Secure Development Policy, version 1.2 [Course project].</a:t>
            </a:r>
            <a:endParaRPr b="0" lang="en-US" sz="880" spc="-1" strike="noStrike">
              <a:latin typeface="Arial"/>
            </a:endParaRPr>
          </a:p>
        </p:txBody>
      </p:sp>
      <p:sp>
        <p:nvSpPr>
          <p:cNvPr id="318" name="Rectangle 243"/>
          <p:cNvSpPr/>
          <p:nvPr/>
        </p:nvSpPr>
        <p:spPr>
          <a:xfrm>
            <a:off x="0" y="0"/>
            <a:ext cx="12191760" cy="82080"/>
          </a:xfrm>
          <a:prstGeom prst="rect">
            <a:avLst/>
          </a:prstGeom>
          <a:solidFill>
            <a:srgbClr val="163c2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9" name="Rectangle 244"/>
          <p:cNvSpPr/>
          <p:nvPr/>
        </p:nvSpPr>
        <p:spPr>
          <a:xfrm>
            <a:off x="0" y="82440"/>
            <a:ext cx="1874160" cy="31680"/>
          </a:xfrm>
          <a:prstGeom prst="rect">
            <a:avLst/>
          </a:prstGeom>
          <a:solidFill>
            <a:srgbClr val="256f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0" name="Rectangle 245"/>
          <p:cNvSpPr/>
          <p:nvPr/>
        </p:nvSpPr>
        <p:spPr>
          <a:xfrm>
            <a:off x="567000" y="6565320"/>
            <a:ext cx="10926720" cy="16200"/>
          </a:xfrm>
          <a:prstGeom prst="rect">
            <a:avLst/>
          </a:prstGeom>
          <a:solidFill>
            <a:srgbClr val="c8d8c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1" name="TextBox 246"/>
          <p:cNvSpPr/>
          <p:nvPr/>
        </p:nvSpPr>
        <p:spPr>
          <a:xfrm>
            <a:off x="1123560" y="6574680"/>
            <a:ext cx="2616480" cy="211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800" spc="-1" strike="noStrike">
                <a:solidFill>
                  <a:srgbClr val="64756b"/>
                </a:solidFill>
                <a:latin typeface="Aptos"/>
              </a:rPr>
              <a:t>GREEN PACE  •  SECURE DEVELOPMENT POLICY</a:t>
            </a:r>
            <a:endParaRPr b="0" lang="en-US" sz="800" spc="-1" strike="noStrike">
              <a:latin typeface="Arial"/>
            </a:endParaRPr>
          </a:p>
        </p:txBody>
      </p:sp>
      <p:sp>
        <p:nvSpPr>
          <p:cNvPr id="322" name="TextBox 247"/>
          <p:cNvSpPr/>
          <p:nvPr/>
        </p:nvSpPr>
        <p:spPr>
          <a:xfrm>
            <a:off x="11073960" y="6537960"/>
            <a:ext cx="327240" cy="226800"/>
          </a:xfrm>
          <a:prstGeom prst="rect">
            <a:avLst/>
          </a:prstGeom>
          <a:noFill/>
          <a:ln w="0">
            <a:noFill/>
          </a:ln>
        </p:spPr>
        <p:style>
          <a:lnRef idx="0"/>
          <a:fillRef idx="0"/>
          <a:effectRef idx="0"/>
          <a:fontRef idx="minor"/>
        </p:style>
        <p:txBody>
          <a:bodyPr wrap="none" lIns="90000" rIns="90000" tIns="45000" bIns="45000" anchor="t">
            <a:spAutoFit/>
          </a:bodyPr>
          <a:p>
            <a:pPr algn="r">
              <a:lnSpc>
                <a:spcPct val="100000"/>
              </a:lnSpc>
            </a:pPr>
            <a:r>
              <a:rPr b="0" lang="en-US" sz="900" spc="-1" strike="noStrike">
                <a:solidFill>
                  <a:srgbClr val="64756b"/>
                </a:solidFill>
                <a:latin typeface="Aptos"/>
              </a:rPr>
              <a:t>18</a:t>
            </a:r>
            <a:endParaRPr b="0" lang="en-US" sz="900" spc="-1" strike="noStrike">
              <a:latin typeface="Arial"/>
            </a:endParaRPr>
          </a:p>
        </p:txBody>
      </p:sp>
      <p:pic>
        <p:nvPicPr>
          <p:cNvPr id="323" name="Picture 248" descr="green_pace_icon_transparent.png"/>
          <p:cNvPicPr/>
          <p:nvPr/>
        </p:nvPicPr>
        <p:blipFill>
          <a:blip r:embed="rId1"/>
          <a:stretch/>
        </p:blipFill>
        <p:spPr>
          <a:xfrm>
            <a:off x="11548800" y="6144840"/>
            <a:ext cx="310680" cy="3380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11</TotalTime>
  <Application>LibreOffice/7.4.0.3$Windows_X86_64 LibreOffice_project/f85e47c08ddd19c015c0114a68350214f7066f5a</Application>
  <AppVersion>15.0000</AppVersion>
  <Words>352</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Jordan Wells</dc:creator>
  <dc:description/>
  <dc:language>en-US</dc:language>
  <cp:lastModifiedBy/>
  <dcterms:modified xsi:type="dcterms:W3CDTF">2026-08-17T11:22:50Z</dcterms:modified>
  <cp:revision>11</cp:revision>
  <dc:subject>CS 405 Project Two</dc:subject>
  <dc:title>Green Pace Security Policy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y fmtid="{D5CDD505-2E9C-101B-9397-08002B2CF9AE}" pid="5" name="Notes">
    <vt:i4>14</vt:i4>
  </property>
  <property fmtid="{D5CDD505-2E9C-101B-9397-08002B2CF9AE}" pid="6" name="PresentationFormat">
    <vt:lpwstr>Widescreen</vt:lpwstr>
  </property>
  <property fmtid="{D5CDD505-2E9C-101B-9397-08002B2CF9AE}" pid="7" name="Slides">
    <vt:i4>14</vt:i4>
  </property>
</Properties>
</file>